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0"/>
            <a:ext cx="11430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</a:rPr>
              <a:t>Agentic Multi-Hop RAG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2402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C7D2FE"/>
                </a:solidFill>
              </a:rPr>
              <a:t>Query Decomposition  ·  Iterative Retrieval  ·  Claim-Level Self-Verification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2834640"/>
            <a:ext cx="5486400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2999232"/>
            <a:ext cx="5486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Alissa Jouljian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3438144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B7280"/>
                </a:solidFill>
              </a:rPr>
              <a:t>NLP Course  ·  Spring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4480560"/>
            <a:ext cx="3749039" cy="822960"/>
          </a:xfrm>
          <a:prstGeom prst="rect">
            <a:avLst/>
          </a:prstGeom>
          <a:solidFill>
            <a:srgbClr val="2D2B55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4544568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6366F1"/>
                </a:solidFill>
              </a:rPr>
              <a:t>HotpotQA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937760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7280"/>
                </a:solidFill>
              </a:rPr>
              <a:t>Wikipedia Multi-Hop QA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4480560"/>
            <a:ext cx="3749039" cy="822960"/>
          </a:xfrm>
          <a:prstGeom prst="rect">
            <a:avLst/>
          </a:prstGeom>
          <a:solidFill>
            <a:srgbClr val="2D2B55"/>
          </a:solidFill>
          <a:ln w="254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4544568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6D28D9"/>
                </a:solidFill>
              </a:rPr>
              <a:t>GPT-4o-mini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4937760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7280"/>
                </a:solidFill>
              </a:rPr>
              <a:t>LLM: Reasoning + Verify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4480560"/>
            <a:ext cx="3749039" cy="822960"/>
          </a:xfrm>
          <a:prstGeom prst="rect">
            <a:avLst/>
          </a:prstGeom>
          <a:solidFill>
            <a:srgbClr val="2D2B55"/>
          </a:solidFill>
          <a:ln w="254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60" y="4544568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F766E"/>
                </a:solidFill>
              </a:rPr>
              <a:t>All 9 Stretch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4937760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7280"/>
                </a:solidFill>
              </a:rPr>
              <a:t>Goals Implemented 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598932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</a:rPr>
              <a:t>+161% Answer Relevance  ·  +128% Token F1  ·  +54% Groundedness  ·  −15% Hallucination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7899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82296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The Problem: Why Static RAG Fails on Multi-Hop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9224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7D2FE"/>
                </a:solidFill>
              </a:rPr>
              <a:t>Standard RAG fires one query — multi-hop questions need chained evidence across 2+ Wikipedia articles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11640312" cy="640080"/>
          </a:xfrm>
          <a:prstGeom prst="rect">
            <a:avLst/>
          </a:prstGeom>
          <a:solidFill>
            <a:srgbClr val="FFF7ED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0624" y="1252728"/>
            <a:ext cx="112471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1B4B"/>
                </a:solidFill>
              </a:rPr>
              <a:t>❓  "The director of the romantic comedy Big Stone Gap is based in what NYC neighborhood?"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965960"/>
            <a:ext cx="5440680" cy="3977639"/>
          </a:xfrm>
          <a:prstGeom prst="rect">
            <a:avLst/>
          </a:prstGeom>
          <a:solidFill>
            <a:srgbClr val="FFF1F2"/>
          </a:solidFill>
          <a:ln w="254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965960"/>
            <a:ext cx="5440680" cy="420624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0624" y="200253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❌  Static RAG — One Compound Query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" y="2487168"/>
            <a:ext cx="5212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500"/>
              </a:spcBef>
            </a:pPr>
            <a:r>
              <a:rPr sz="1200" b="0" i="0">
                <a:solidFill>
                  <a:srgbClr val="1E1B4B"/>
                </a:solidFill>
              </a:rPr>
              <a:t>• Fires ONE query: 'director Big Stone Gap NYC neighborhood'</a:t>
            </a:r>
          </a:p>
          <a:p>
            <a:pPr algn="l">
              <a:spcBef>
                <a:spcPts val="500"/>
              </a:spcBef>
            </a:pPr>
            <a:r>
              <a:rPr sz="1200" b="0" i="0">
                <a:solidFill>
                  <a:srgbClr val="1E1B4B"/>
                </a:solidFill>
              </a:rPr>
              <a:t>• Retrieves a mix of topically unrelated passages</a:t>
            </a:r>
          </a:p>
          <a:p>
            <a:pPr algn="l">
              <a:spcBef>
                <a:spcPts val="500"/>
              </a:spcBef>
            </a:pPr>
            <a:r>
              <a:rPr sz="1200" b="1" i="0">
                <a:solidFill>
                  <a:srgbClr val="F43F5E"/>
                </a:solidFill>
              </a:rPr>
              <a:t>• Missing step: identify the director first, then find where they live</a:t>
            </a:r>
          </a:p>
          <a:p>
            <a:pPr algn="l">
              <a:spcBef>
                <a:spcPts val="500"/>
              </a:spcBef>
            </a:pPr>
            <a:r>
              <a:rPr sz="1200" b="0" i="0">
                <a:solidFill>
                  <a:srgbClr val="1E1B4B"/>
                </a:solidFill>
              </a:rPr>
              <a:t>• Generates a confused or wrong answer</a:t>
            </a:r>
          </a:p>
          <a:p>
            <a:pPr algn="l">
              <a:spcBef>
                <a:spcPts val="500"/>
              </a:spcBef>
            </a:pPr>
            <a:r>
              <a:rPr sz="1200" b="0" i="0">
                <a:solidFill>
                  <a:srgbClr val="1E1B4B"/>
                </a:solidFill>
              </a:rPr>
              <a:t>• No awareness of what intermediate fact is missing</a:t>
            </a:r>
          </a:p>
          <a:p>
            <a:pPr algn="l">
              <a:spcBef>
                <a:spcPts val="500"/>
              </a:spcBef>
            </a:pPr>
            <a:r>
              <a:rPr sz="400" b="0" i="0">
                <a:solidFill>
                  <a:srgbClr val="1E1B4B"/>
                </a:solidFill>
              </a:rPr>
              <a:t/>
            </a:r>
          </a:p>
          <a:p>
            <a:pPr algn="l">
              <a:spcBef>
                <a:spcPts val="500"/>
              </a:spcBef>
            </a:pPr>
            <a:r>
              <a:rPr sz="1300" b="1" i="0">
                <a:solidFill>
                  <a:srgbClr val="F43F5E"/>
                </a:solidFill>
              </a:rPr>
              <a:t>Answer Relevance:  0.16 avg</a:t>
            </a:r>
          </a:p>
          <a:p>
            <a:pPr algn="l">
              <a:spcBef>
                <a:spcPts val="500"/>
              </a:spcBef>
            </a:pPr>
            <a:r>
              <a:rPr sz="1300" b="1" i="0">
                <a:solidFill>
                  <a:srgbClr val="F43F5E"/>
                </a:solidFill>
              </a:rPr>
              <a:t>Hallucination Rate:  77.8%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80760" y="1965960"/>
            <a:ext cx="5833872" cy="3977639"/>
          </a:xfrm>
          <a:prstGeom prst="rect">
            <a:avLst/>
          </a:prstGeom>
          <a:solidFill>
            <a:srgbClr val="F0FDF4"/>
          </a:solidFill>
          <a:ln w="254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80760" y="1965960"/>
            <a:ext cx="5833872" cy="42062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2002536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✅  Agentic RAG — Multi-Hop Loop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2487168"/>
            <a:ext cx="55778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500"/>
              </a:spcBef>
            </a:pPr>
            <a:r>
              <a:rPr sz="1200" b="1">
                <a:solidFill>
                  <a:srgbClr val="6366F1"/>
                </a:solidFill>
              </a:rPr>
              <a:t>1. DECOMPOSE  </a:t>
            </a:r>
            <a:r>
              <a:rPr sz="1200">
                <a:solidFill>
                  <a:srgbClr val="6366F1"/>
                </a:solidFill>
              </a:rPr>
              <a:t>→ Sub-Q1: Who directed Big Stone Gap?</a:t>
            </a:r>
          </a:p>
          <a:p>
            <a:pPr>
              <a:spcBef>
                <a:spcPts val="500"/>
              </a:spcBef>
            </a:pPr>
            <a:r>
              <a:rPr sz="1200" b="1">
                <a:solidFill>
                  <a:srgbClr val="6366F1"/>
                </a:solidFill>
              </a:rPr>
              <a:t>2. RETRIEVE  </a:t>
            </a:r>
            <a:r>
              <a:rPr sz="1200">
                <a:solidFill>
                  <a:srgbClr val="1E1B4B"/>
                </a:solidFill>
              </a:rPr>
              <a:t>→ Fetch Wikipedia passages per sub-question</a:t>
            </a:r>
          </a:p>
          <a:p>
            <a:pPr>
              <a:spcBef>
                <a:spcPts val="500"/>
              </a:spcBef>
            </a:pPr>
            <a:r>
              <a:rPr sz="1200" b="1">
                <a:solidFill>
                  <a:srgbClr val="6366F1"/>
                </a:solidFill>
              </a:rPr>
              <a:t>3. REASON  </a:t>
            </a:r>
            <a:r>
              <a:rPr sz="1200">
                <a:solidFill>
                  <a:srgbClr val="1E1B4B"/>
                </a:solidFill>
              </a:rPr>
              <a:t>→ Answer: Adriana Trigiani (director)</a:t>
            </a:r>
          </a:p>
          <a:p>
            <a:pPr>
              <a:spcBef>
                <a:spcPts val="500"/>
              </a:spcBef>
            </a:pPr>
            <a:r>
              <a:rPr sz="1200" b="1">
                <a:solidFill>
                  <a:srgbClr val="6366F1"/>
                </a:solidFill>
              </a:rPr>
              <a:t>4. VERIFY  </a:t>
            </a:r>
            <a:r>
              <a:rPr sz="1200">
                <a:solidFill>
                  <a:srgbClr val="F59E0B"/>
                </a:solidFill>
              </a:rPr>
              <a:t>→ Confidence 0.40 — context partial — REWRITE</a:t>
            </a:r>
          </a:p>
          <a:p>
            <a:pPr>
              <a:spcBef>
                <a:spcPts val="500"/>
              </a:spcBef>
            </a:pPr>
            <a:r>
              <a:rPr sz="1200" b="1">
                <a:solidFill>
                  <a:srgbClr val="6366F1"/>
                </a:solidFill>
              </a:rPr>
              <a:t>5. REWRITE  </a:t>
            </a:r>
            <a:r>
              <a:rPr sz="1200">
                <a:solidFill>
                  <a:srgbClr val="F43F5E"/>
                </a:solidFill>
              </a:rPr>
              <a:t>→ Sub-Q2: Where does Trigiani live in NYC?</a:t>
            </a:r>
          </a:p>
          <a:p>
            <a:pPr>
              <a:spcBef>
                <a:spcPts val="500"/>
              </a:spcBef>
            </a:pPr>
            <a:r>
              <a:rPr sz="1200" b="1">
                <a:solidFill>
                  <a:srgbClr val="6366F1"/>
                </a:solidFill>
              </a:rPr>
              <a:t>6. ANSWER  </a:t>
            </a:r>
            <a:r>
              <a:rPr sz="1200">
                <a:solidFill>
                  <a:srgbClr val="16A34A"/>
                </a:solidFill>
              </a:rPr>
              <a:t>→ Greenwich Village, New York City  ✓</a:t>
            </a:r>
          </a:p>
          <a:p>
            <a:pPr algn="l">
              <a:spcBef>
                <a:spcPts val="500"/>
              </a:spcBef>
            </a:pPr>
            <a:r>
              <a:rPr sz="400" b="0" i="0">
                <a:solidFill>
                  <a:srgbClr val="1E1B4B"/>
                </a:solidFill>
              </a:rPr>
              <a:t/>
            </a:r>
          </a:p>
          <a:p>
            <a:pPr algn="l">
              <a:spcBef>
                <a:spcPts val="500"/>
              </a:spcBef>
            </a:pPr>
            <a:r>
              <a:rPr sz="1300" b="1" i="0">
                <a:solidFill>
                  <a:srgbClr val="16A34A"/>
                </a:solidFill>
              </a:rPr>
              <a:t>Answer Relevance:  0.42 avg (+161%)</a:t>
            </a:r>
          </a:p>
          <a:p>
            <a:pPr algn="l">
              <a:spcBef>
                <a:spcPts val="500"/>
              </a:spcBef>
            </a:pPr>
            <a:r>
              <a:rPr sz="1300" b="1" i="0">
                <a:solidFill>
                  <a:srgbClr val="16A34A"/>
                </a:solidFill>
              </a:rPr>
              <a:t>Hallucination Rate:  65.8% (−15%)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56248"/>
            <a:ext cx="12188952" cy="3017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2880" y="6565392"/>
            <a:ext cx="1179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7D2FE"/>
                </a:solidFill>
              </a:rPr>
              <a:t>Agentic Multi-Hop RAG  ·  Alissa Jouljian  ·  NLP Course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7899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82296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Dataset: HotpotQA Wikipedia Multi-Hop QA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9224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7D2FE"/>
                </a:solidFill>
              </a:rPr>
              <a:t>What data we use, why it is challenging, and what corpus we indexed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170432"/>
            <a:ext cx="3657600" cy="40233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38328" y="1216152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📚  HotpotQA Benchmark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572768"/>
            <a:ext cx="3657600" cy="4718303"/>
          </a:xfrm>
          <a:prstGeom prst="rect">
            <a:avLst/>
          </a:prstGeom>
          <a:solidFill>
            <a:srgbClr val="EEF2FF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" y="1645920"/>
            <a:ext cx="3401568" cy="4517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500"/>
              </a:spcBef>
            </a:pPr>
            <a:r>
              <a:rPr sz="1200" b="0" i="0">
                <a:solidFill>
                  <a:srgbClr val="1E1B4B"/>
                </a:solidFill>
              </a:rPr>
              <a:t>• Multi-hop QA dataset built from Wikipedia</a:t>
            </a:r>
          </a:p>
          <a:p>
            <a:pPr algn="l">
              <a:spcBef>
                <a:spcPts val="500"/>
              </a:spcBef>
            </a:pPr>
            <a:r>
              <a:rPr sz="1200" b="1" i="0">
                <a:solidFill>
                  <a:srgbClr val="6366F1"/>
                </a:solidFill>
              </a:rPr>
              <a:t>• Each question requires evidence from 2 separate Wikipedia articles</a:t>
            </a:r>
          </a:p>
          <a:p>
            <a:pPr algn="l">
              <a:spcBef>
                <a:spcPts val="500"/>
              </a:spcBef>
            </a:pPr>
            <a:r>
              <a:rPr sz="1200" b="0" i="0">
                <a:solidFill>
                  <a:srgbClr val="1E1B4B"/>
                </a:solidFill>
              </a:rPr>
              <a:t>• Full corpus: 5.2 million Wikipedia articles</a:t>
            </a:r>
          </a:p>
          <a:p>
            <a:pPr algn="l">
              <a:spcBef>
                <a:spcPts val="500"/>
              </a:spcBef>
            </a:pPr>
            <a:r>
              <a:rPr sz="300" b="0" i="0">
                <a:solidFill>
                  <a:srgbClr val="1E1B4B"/>
                </a:solidFill>
              </a:rPr>
              <a:t/>
            </a:r>
          </a:p>
          <a:p>
            <a:pPr algn="l">
              <a:spcBef>
                <a:spcPts val="500"/>
              </a:spcBef>
            </a:pPr>
            <a:r>
              <a:rPr sz="1200" b="1" i="0">
                <a:solidFill>
                  <a:srgbClr val="1E1B4B"/>
                </a:solidFill>
              </a:rPr>
              <a:t>Two question types:</a:t>
            </a:r>
          </a:p>
          <a:p>
            <a:pPr algn="l">
              <a:spcBef>
                <a:spcPts val="500"/>
              </a:spcBef>
            </a:pPr>
            <a:r>
              <a:rPr sz="1200" b="0" i="0">
                <a:solidFill>
                  <a:srgbClr val="1E1B4B"/>
                </a:solidFill>
              </a:rPr>
              <a:t>• Bridge  — find an intermediate entity linking two facts</a:t>
            </a:r>
          </a:p>
          <a:p>
            <a:pPr algn="l">
              <a:spcBef>
                <a:spcPts val="500"/>
              </a:spcBef>
            </a:pPr>
            <a:r>
              <a:rPr sz="1100" b="0" i="1">
                <a:solidFill>
                  <a:srgbClr val="6B7280"/>
                </a:solidFill>
              </a:rPr>
              <a:t>  e.g. "The director of X was born in what city?"</a:t>
            </a:r>
          </a:p>
          <a:p>
            <a:pPr algn="l">
              <a:spcBef>
                <a:spcPts val="500"/>
              </a:spcBef>
            </a:pPr>
            <a:r>
              <a:rPr sz="1200" b="0" i="0">
                <a:solidFill>
                  <a:srgbClr val="1E1B4B"/>
                </a:solidFill>
              </a:rPr>
              <a:t>• Comparison  — compare an attribute across two entities</a:t>
            </a:r>
          </a:p>
          <a:p>
            <a:pPr algn="l">
              <a:spcBef>
                <a:spcPts val="500"/>
              </a:spcBef>
            </a:pPr>
            <a:r>
              <a:rPr sz="1100" b="0" i="1">
                <a:solidFill>
                  <a:srgbClr val="6B7280"/>
                </a:solidFill>
              </a:rPr>
              <a:t>  e.g. "Were X and Y of the same nationality?"</a:t>
            </a:r>
          </a:p>
          <a:p>
            <a:pPr algn="l">
              <a:spcBef>
                <a:spcPts val="500"/>
              </a:spcBef>
            </a:pPr>
            <a:r>
              <a:rPr sz="300" b="0" i="0">
                <a:solidFill>
                  <a:srgbClr val="1E1B4B"/>
                </a:solidFill>
              </a:rPr>
              <a:t/>
            </a:r>
          </a:p>
          <a:p>
            <a:pPr algn="l">
              <a:spcBef>
                <a:spcPts val="500"/>
              </a:spcBef>
            </a:pPr>
            <a:r>
              <a:rPr sz="1200" b="0" i="0">
                <a:solidFill>
                  <a:srgbClr val="1E1B4B"/>
                </a:solidFill>
              </a:rPr>
              <a:t>• Difficulty levels: easy / medium / hard</a:t>
            </a:r>
          </a:p>
          <a:p>
            <a:pPr algn="l">
              <a:spcBef>
                <a:spcPts val="500"/>
              </a:spcBef>
            </a:pPr>
            <a:r>
              <a:rPr sz="1200" b="1" i="0">
                <a:solidFill>
                  <a:srgbClr val="F43F5E"/>
                </a:solidFill>
              </a:rPr>
              <a:t>• We evaluate on hard only — hardest setting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4069080" y="1170432"/>
            <a:ext cx="3977639" cy="40233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78808" y="1216152"/>
            <a:ext cx="379475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🎯  Our Evaluation Sample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69080" y="1572768"/>
            <a:ext cx="3977639" cy="4718303"/>
          </a:xfrm>
          <a:prstGeom prst="rect">
            <a:avLst/>
          </a:prstGeom>
          <a:solidFill>
            <a:srgbClr val="FFF7ED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97096" y="1645920"/>
            <a:ext cx="3721607" cy="4517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500"/>
              </a:spcBef>
            </a:pPr>
            <a:r>
              <a:rPr sz="1300" b="1" i="0">
                <a:solidFill>
                  <a:srgbClr val="1E1B4B"/>
                </a:solidFill>
              </a:rPr>
              <a:t>• Validation split — 30 questions</a:t>
            </a:r>
          </a:p>
          <a:p>
            <a:pPr algn="l">
              <a:spcBef>
                <a:spcPts val="500"/>
              </a:spcBef>
            </a:pPr>
            <a:r>
              <a:rPr sz="1300" b="1" i="0">
                <a:solidFill>
                  <a:srgbClr val="F43F5E"/>
                </a:solidFill>
              </a:rPr>
              <a:t>• ALL 30 classified as hard by HotpotQA</a:t>
            </a:r>
          </a:p>
          <a:p>
            <a:pPr algn="l">
              <a:spcBef>
                <a:spcPts val="500"/>
              </a:spcBef>
            </a:pPr>
            <a:r>
              <a:rPr sz="300" b="0" i="0">
                <a:solidFill>
                  <a:srgbClr val="1E1B4B"/>
                </a:solidFill>
              </a:rPr>
              <a:t/>
            </a:r>
          </a:p>
          <a:p>
            <a:pPr algn="l">
              <a:spcBef>
                <a:spcPts val="500"/>
              </a:spcBef>
            </a:pPr>
            <a:r>
              <a:rPr sz="1200" b="1" i="0">
                <a:solidFill>
                  <a:srgbClr val="1E1B4B"/>
                </a:solidFill>
              </a:rPr>
              <a:t>Type breakdown:</a:t>
            </a:r>
          </a:p>
          <a:p>
            <a:pPr algn="l">
              <a:spcBef>
                <a:spcPts val="500"/>
              </a:spcBef>
            </a:pPr>
            <a:r>
              <a:rPr sz="1200" b="0" i="0">
                <a:solidFill>
                  <a:srgbClr val="1E1B4B"/>
                </a:solidFill>
              </a:rPr>
              <a:t>• 22 bridge questions (73%)</a:t>
            </a:r>
          </a:p>
          <a:p>
            <a:pPr algn="l">
              <a:spcBef>
                <a:spcPts val="500"/>
              </a:spcBef>
            </a:pPr>
            <a:r>
              <a:rPr sz="1200" b="0" i="0">
                <a:solidFill>
                  <a:srgbClr val="1E1B4B"/>
                </a:solidFill>
              </a:rPr>
              <a:t>• 8 comparison questions (27%)</a:t>
            </a:r>
          </a:p>
          <a:p>
            <a:pPr algn="l">
              <a:spcBef>
                <a:spcPts val="500"/>
              </a:spcBef>
            </a:pPr>
            <a:r>
              <a:rPr sz="300" b="0" i="0">
                <a:solidFill>
                  <a:srgbClr val="1E1B4B"/>
                </a:solidFill>
              </a:rPr>
              <a:t/>
            </a:r>
          </a:p>
          <a:p>
            <a:pPr algn="l">
              <a:spcBef>
                <a:spcPts val="500"/>
              </a:spcBef>
            </a:pPr>
            <a:r>
              <a:rPr sz="1200" b="1" i="0">
                <a:solidFill>
                  <a:srgbClr val="1E1B4B"/>
                </a:solidFill>
              </a:rPr>
              <a:t>Complexity (our classifier):</a:t>
            </a:r>
          </a:p>
          <a:p>
            <a:pPr algn="l">
              <a:spcBef>
                <a:spcPts val="500"/>
              </a:spcBef>
            </a:pPr>
            <a:r>
              <a:rPr sz="1200" b="0" i="0">
                <a:solidFill>
                  <a:srgbClr val="F59E0B"/>
                </a:solidFill>
              </a:rPr>
              <a:t>• 11 medium (37%)  — budget: 8 LLM calls</a:t>
            </a:r>
          </a:p>
          <a:p>
            <a:pPr algn="l">
              <a:spcBef>
                <a:spcPts val="500"/>
              </a:spcBef>
            </a:pPr>
            <a:r>
              <a:rPr sz="1200" b="0" i="0">
                <a:solidFill>
                  <a:srgbClr val="F43F5E"/>
                </a:solidFill>
              </a:rPr>
              <a:t>• 19 hard (63%)  — budget: 12 LLM calls</a:t>
            </a:r>
          </a:p>
          <a:p>
            <a:pPr algn="l">
              <a:spcBef>
                <a:spcPts val="500"/>
              </a:spcBef>
            </a:pPr>
            <a:r>
              <a:rPr sz="300" b="0" i="0">
                <a:solidFill>
                  <a:srgbClr val="1E1B4B"/>
                </a:solidFill>
              </a:rPr>
              <a:t/>
            </a:r>
          </a:p>
          <a:p>
            <a:pPr algn="l">
              <a:spcBef>
                <a:spcPts val="500"/>
              </a:spcBef>
            </a:pPr>
            <a:r>
              <a:rPr sz="1200" b="0" i="0">
                <a:solidFill>
                  <a:srgbClr val="1E1B4B"/>
                </a:solidFill>
              </a:rPr>
              <a:t>• Each needs 2+ supporting articles</a:t>
            </a:r>
          </a:p>
          <a:p>
            <a:pPr algn="l">
              <a:spcBef>
                <a:spcPts val="500"/>
              </a:spcBef>
            </a:pPr>
            <a:r>
              <a:rPr sz="1200" b="0" i="0">
                <a:solidFill>
                  <a:srgbClr val="1E1B4B"/>
                </a:solidFill>
              </a:rPr>
              <a:t>• Zero-shot — no fine-tuning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1170432"/>
            <a:ext cx="3730752" cy="40233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39327" y="1216152"/>
            <a:ext cx="35478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🗃️  Corpus We Indexed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1572768"/>
            <a:ext cx="3730752" cy="4718303"/>
          </a:xfrm>
          <a:prstGeom prst="rect">
            <a:avLst/>
          </a:prstGeom>
          <a:solidFill>
            <a:srgbClr val="ECFDF5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57616" y="1645920"/>
            <a:ext cx="3474720" cy="4517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500"/>
              </a:spcBef>
            </a:pPr>
            <a:r>
              <a:rPr sz="1200" b="0" i="0">
                <a:solidFill>
                  <a:srgbClr val="1E1B4B"/>
                </a:solidFill>
              </a:rPr>
              <a:t>• Source: HotpotQA Wikipedia contexts</a:t>
            </a:r>
          </a:p>
          <a:p>
            <a:pPr algn="l">
              <a:spcBef>
                <a:spcPts val="500"/>
              </a:spcBef>
            </a:pPr>
            <a:r>
              <a:rPr sz="1300" b="1" i="0">
                <a:solidFill>
                  <a:srgbClr val="0F766E"/>
                </a:solidFill>
              </a:rPr>
              <a:t>• 5,064 unique chunks indexed</a:t>
            </a:r>
          </a:p>
          <a:p>
            <a:pPr algn="l">
              <a:spcBef>
                <a:spcPts val="500"/>
              </a:spcBef>
            </a:pPr>
            <a:r>
              <a:rPr sz="1200" b="0" i="0">
                <a:solidFill>
                  <a:srgbClr val="1E1B4B"/>
                </a:solidFill>
              </a:rPr>
              <a:t>• ~500 unique Wikipedia articles</a:t>
            </a:r>
          </a:p>
          <a:p>
            <a:pPr algn="l">
              <a:spcBef>
                <a:spcPts val="500"/>
              </a:spcBef>
            </a:pPr>
            <a:r>
              <a:rPr sz="300" b="0" i="0">
                <a:solidFill>
                  <a:srgbClr val="1E1B4B"/>
                </a:solidFill>
              </a:rPr>
              <a:t/>
            </a:r>
          </a:p>
          <a:p>
            <a:pPr algn="l">
              <a:spcBef>
                <a:spcPts val="500"/>
              </a:spcBef>
            </a:pPr>
            <a:r>
              <a:rPr sz="1200" b="1" i="0">
                <a:solidFill>
                  <a:srgbClr val="1E1B4B"/>
                </a:solidFill>
              </a:rPr>
              <a:t>Chunking strategy:</a:t>
            </a:r>
          </a:p>
          <a:p>
            <a:pPr algn="l">
              <a:spcBef>
                <a:spcPts val="500"/>
              </a:spcBef>
            </a:pPr>
            <a:r>
              <a:rPr sz="1200" b="0" i="0">
                <a:solidFill>
                  <a:srgbClr val="1E1B4B"/>
                </a:solidFill>
              </a:rPr>
              <a:t>• 256 tokens per chunk</a:t>
            </a:r>
          </a:p>
          <a:p>
            <a:pPr algn="l">
              <a:spcBef>
                <a:spcPts val="500"/>
              </a:spcBef>
            </a:pPr>
            <a:r>
              <a:rPr sz="1200" b="0" i="0">
                <a:solidFill>
                  <a:srgbClr val="1E1B4B"/>
                </a:solidFill>
              </a:rPr>
              <a:t>• 64-token overlap across chunks</a:t>
            </a:r>
          </a:p>
          <a:p>
            <a:pPr algn="l">
              <a:spcBef>
                <a:spcPts val="500"/>
              </a:spcBef>
            </a:pPr>
            <a:r>
              <a:rPr sz="300" b="0" i="0">
                <a:solidFill>
                  <a:srgbClr val="1E1B4B"/>
                </a:solidFill>
              </a:rPr>
              <a:t/>
            </a:r>
          </a:p>
          <a:p>
            <a:pPr algn="l">
              <a:spcBef>
                <a:spcPts val="500"/>
              </a:spcBef>
            </a:pPr>
            <a:r>
              <a:rPr sz="1200" b="1" i="0">
                <a:solidFill>
                  <a:srgbClr val="1E1B4B"/>
                </a:solidFill>
              </a:rPr>
              <a:t>Two indexes built:</a:t>
            </a:r>
          </a:p>
          <a:p>
            <a:pPr algn="l">
              <a:spcBef>
                <a:spcPts val="500"/>
              </a:spcBef>
            </a:pPr>
            <a:r>
              <a:rPr sz="1200" b="0" i="0">
                <a:solidFill>
                  <a:srgbClr val="1E1B4B"/>
                </a:solidFill>
              </a:rPr>
              <a:t>• BM25Okapi (sparse keyword)</a:t>
            </a:r>
          </a:p>
          <a:p>
            <a:pPr algn="l">
              <a:spcBef>
                <a:spcPts val="500"/>
              </a:spcBef>
            </a:pPr>
            <a:r>
              <a:rPr sz="1200" b="0" i="0">
                <a:solidFill>
                  <a:srgbClr val="1E1B4B"/>
                </a:solidFill>
              </a:rPr>
              <a:t>• FAISS + text-embedding-3-small (dense)</a:t>
            </a:r>
          </a:p>
          <a:p>
            <a:pPr algn="l">
              <a:spcBef>
                <a:spcPts val="500"/>
              </a:spcBef>
            </a:pPr>
            <a:r>
              <a:rPr sz="300" b="0" i="0">
                <a:solidFill>
                  <a:srgbClr val="1E1B4B"/>
                </a:solidFill>
              </a:rPr>
              <a:t/>
            </a:r>
          </a:p>
          <a:p>
            <a:pPr algn="l">
              <a:spcBef>
                <a:spcPts val="500"/>
              </a:spcBef>
            </a:pPr>
            <a:r>
              <a:rPr sz="1200" b="1" i="0">
                <a:solidFill>
                  <a:srgbClr val="F43F5E"/>
                </a:solidFill>
              </a:rPr>
              <a:t>⚠️  Coverage gap:</a:t>
            </a:r>
          </a:p>
          <a:p>
            <a:pPr algn="l">
              <a:spcBef>
                <a:spcPts val="500"/>
              </a:spcBef>
            </a:pPr>
            <a:r>
              <a:rPr sz="1200" b="0" i="0">
                <a:solidFill>
                  <a:srgbClr val="F43F5E"/>
                </a:solidFill>
              </a:rPr>
              <a:t>• 5K chunks vs 5.2M articles in Wikipedia</a:t>
            </a:r>
          </a:p>
          <a:p>
            <a:pPr algn="l">
              <a:spcBef>
                <a:spcPts val="500"/>
              </a:spcBef>
            </a:pPr>
            <a:r>
              <a:rPr sz="1200" b="1" i="0">
                <a:solidFill>
                  <a:srgbClr val="F43F5E"/>
                </a:solidFill>
              </a:rPr>
              <a:t>• Retrieval recall = 1.7%  (coverage, not algorithm)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56248"/>
            <a:ext cx="12188952" cy="3017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2880" y="6565392"/>
            <a:ext cx="1179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7D2FE"/>
                </a:solidFill>
              </a:rPr>
              <a:t>Agentic Multi-Hop RAG  ·  Alissa Jouljian  ·  NLP Course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7899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82296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System Architecture — Full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9224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7D2FE"/>
                </a:solidFill>
              </a:rPr>
              <a:t>Hybrid indexing → 6-state agentic loop → claim-level self-verification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207008"/>
            <a:ext cx="1920240" cy="1572768"/>
          </a:xfrm>
          <a:prstGeom prst="rect">
            <a:avLst/>
          </a:prstGeom>
          <a:solidFill>
            <a:srgbClr val="FFF7ED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1207008"/>
            <a:ext cx="1920240" cy="34747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225296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📄 Corpus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591056"/>
            <a:ext cx="17373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B4B"/>
                </a:solidFill>
              </a:rPr>
              <a:t>5,064 chunks
HotpotQA Wiki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48840" y="1792224"/>
            <a:ext cx="365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6366F1"/>
                </a:solidFill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0" y="1207008"/>
            <a:ext cx="1920240" cy="1572768"/>
          </a:xfrm>
          <a:prstGeom prst="rect">
            <a:avLst/>
          </a:prstGeom>
          <a:solidFill>
            <a:srgbClr val="EEF2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286000" y="1207008"/>
            <a:ext cx="1920240" cy="34747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77440" y="1225296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🔍 BM25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40" y="1591056"/>
            <a:ext cx="17373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B4B"/>
                </a:solidFill>
              </a:rPr>
              <a:t>Sparse Index
Keyword match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1792224"/>
            <a:ext cx="365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6366F1"/>
                </a:solidFill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3400" y="1207008"/>
            <a:ext cx="1920240" cy="1572768"/>
          </a:xfrm>
          <a:prstGeom prst="rect">
            <a:avLst/>
          </a:prstGeom>
          <a:solidFill>
            <a:srgbClr val="EEF2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3400" y="1207008"/>
            <a:ext cx="1920240" cy="34747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4840" y="1225296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🧠 FAISS Dense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1591056"/>
            <a:ext cx="17373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B4B"/>
                </a:solidFill>
              </a:rPr>
              <a:t>Semantic Index
text-emb-3sm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1792224"/>
            <a:ext cx="365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6366F1"/>
                </a:solidFill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1207008"/>
            <a:ext cx="1920240" cy="1572768"/>
          </a:xfrm>
          <a:prstGeom prst="rect">
            <a:avLst/>
          </a:prstGeom>
          <a:solidFill>
            <a:srgbClr val="EDE9FE"/>
          </a:solidFill>
          <a:ln w="254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0" y="1207008"/>
            <a:ext cx="1920240" cy="347472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1225296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⚡ RRF Fusion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1591056"/>
            <a:ext cx="17373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B4B"/>
                </a:solidFill>
              </a:rPr>
              <a:t>top-20 combined
results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1792224"/>
            <a:ext cx="365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6366F1"/>
                </a:solidFill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458200" y="1207008"/>
            <a:ext cx="1920240" cy="1572768"/>
          </a:xfrm>
          <a:prstGeom prst="rect">
            <a:avLst/>
          </a:prstGeom>
          <a:solidFill>
            <a:srgbClr val="ECFDF5"/>
          </a:solidFill>
          <a:ln w="254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458200" y="1207008"/>
            <a:ext cx="1920240" cy="34747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49640" y="1225296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🎯 LLM Re-rank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49640" y="1591056"/>
            <a:ext cx="17373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B4B"/>
                </a:solidFill>
              </a:rPr>
              <a:t>GPT-4o-mini
top-8 passages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28600" y="2944368"/>
            <a:ext cx="11887200" cy="3273552"/>
          </a:xfrm>
          <a:prstGeom prst="rect">
            <a:avLst/>
          </a:prstGeom>
          <a:solidFill>
            <a:srgbClr val="EEF2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28600" y="2944368"/>
            <a:ext cx="11887200" cy="36576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4048" y="2971800"/>
            <a:ext cx="11612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🤖  AGENTIC LOOP  (GPT-4o-mini)  ·  Dynamic budget: Simple=4 / Medium=8 / Hard=12 LLM calls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84048" y="3438144"/>
            <a:ext cx="1810512" cy="2523744"/>
          </a:xfrm>
          <a:prstGeom prst="rect">
            <a:avLst/>
          </a:prstGeom>
          <a:solidFill>
            <a:srgbClr val="FFFF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84048" y="3438144"/>
            <a:ext cx="1810512" cy="32918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3456432"/>
            <a:ext cx="1664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DECOMPOSE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3822191"/>
            <a:ext cx="1664208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1B4B"/>
                </a:solidFill>
              </a:rPr>
              <a:t>Breaks question into
1–5 atomic sub-Qs
+ complexity budget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194560" y="4096512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6366F1"/>
                </a:solidFill>
              </a:rPr>
              <a:t>→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350008" y="3438144"/>
            <a:ext cx="1810512" cy="2523744"/>
          </a:xfrm>
          <a:prstGeom prst="rect">
            <a:avLst/>
          </a:prstGeom>
          <a:solidFill>
            <a:srgbClr val="FFFFFF"/>
          </a:solidFill>
          <a:ln w="254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350008" y="3438144"/>
            <a:ext cx="1810512" cy="329184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423160" y="3456432"/>
            <a:ext cx="1664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RETRIEVE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423160" y="3822191"/>
            <a:ext cx="1664208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1B4B"/>
                </a:solidFill>
              </a:rPr>
              <a:t>Hybrid BM25+FAISS
per sub-question
→ top-8 passages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60520" y="4096512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6366F1"/>
                </a:solidFill>
              </a:rPr>
              <a:t>→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315968" y="3438144"/>
            <a:ext cx="1810512" cy="2523744"/>
          </a:xfrm>
          <a:prstGeom prst="rect">
            <a:avLst/>
          </a:prstGeom>
          <a:solidFill>
            <a:srgbClr val="FFFFFF"/>
          </a:solidFill>
          <a:ln w="254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315968" y="3438144"/>
            <a:ext cx="1810512" cy="32918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389120" y="3456432"/>
            <a:ext cx="1664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REASON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389120" y="3822191"/>
            <a:ext cx="1664208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1B4B"/>
                </a:solidFill>
              </a:rPr>
              <a:t>Chain-of-thought
answer + aggregate
sub-answers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26479" y="4096512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6366F1"/>
                </a:solidFill>
              </a:rPr>
              <a:t>→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81927" y="3438144"/>
            <a:ext cx="1810512" cy="2523744"/>
          </a:xfrm>
          <a:prstGeom prst="rect">
            <a:avLst/>
          </a:prstGeom>
          <a:solidFill>
            <a:srgbClr val="FFFFFF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281927" y="3438144"/>
            <a:ext cx="1810512" cy="32918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55079" y="3456432"/>
            <a:ext cx="1664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VERIFY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55079" y="3822191"/>
            <a:ext cx="1664208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1B4B"/>
                </a:solidFill>
              </a:rPr>
              <a:t>Extract claims,
check each vs
context (YES/NO)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092440" y="4096512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6366F1"/>
                </a:solidFill>
              </a:rPr>
              <a:t>→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247888" y="3438144"/>
            <a:ext cx="1810512" cy="2523744"/>
          </a:xfrm>
          <a:prstGeom prst="rect">
            <a:avLst/>
          </a:prstGeom>
          <a:solidFill>
            <a:srgbClr val="FFFFFF"/>
          </a:solidFill>
          <a:ln w="254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247888" y="3438144"/>
            <a:ext cx="1810512" cy="329184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321040" y="3456432"/>
            <a:ext cx="1664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REWRITE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21040" y="3822191"/>
            <a:ext cx="1664208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1B4B"/>
                </a:solidFill>
              </a:rPr>
              <a:t>Refine failed sub-Qs
using gathered
context so far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058400" y="4096512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6366F1"/>
                </a:solidFill>
              </a:rPr>
              <a:t>→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0213848" y="3438144"/>
            <a:ext cx="1810512" cy="2523744"/>
          </a:xfrm>
          <a:prstGeom prst="rect">
            <a:avLst/>
          </a:prstGeom>
          <a:solidFill>
            <a:srgbClr val="FFFFFF"/>
          </a:solidFill>
          <a:ln w="254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0213848" y="3438144"/>
            <a:ext cx="1810512" cy="32918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287000" y="3456432"/>
            <a:ext cx="1664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ANSWER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287000" y="3822191"/>
            <a:ext cx="1664208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1B4B"/>
                </a:solidFill>
              </a:rPr>
              <a:t>Commit when
confidence ≥ 0.60
or budget done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645920" y="606247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43F5E"/>
                </a:solidFill>
              </a:rPr>
              <a:t>↺  rewrite loop if confidence &lt; 0.60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315200" y="606247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59E0B"/>
                </a:solidFill>
              </a:rPr>
              <a:t>⚡ early stop if confidence ≥ 0.85</a:t>
            </a:r>
          </a:p>
        </p:txBody>
      </p:sp>
      <p:sp>
        <p:nvSpPr>
          <p:cNvPr id="63" name="Rectangle 62"/>
          <p:cNvSpPr/>
          <p:nvPr/>
        </p:nvSpPr>
        <p:spPr>
          <a:xfrm>
            <a:off x="0" y="6556248"/>
            <a:ext cx="12188952" cy="3017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82880" y="6565392"/>
            <a:ext cx="1179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7D2FE"/>
                </a:solidFill>
              </a:rPr>
              <a:t>Agentic Multi-Hop RAG  ·  Alissa Jouljian  ·  NLP Course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7899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82296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Indexing &amp; Hybrid Retrieval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9224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7D2FE"/>
                </a:solidFill>
              </a:rPr>
              <a:t>BM25 sparse + FAISS dense → Reciprocal Rank Fusion → LLM Re-Ranker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170432"/>
            <a:ext cx="3566160" cy="40233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38328" y="1216152"/>
            <a:ext cx="338327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📄  Corpus &amp; Chunking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572768"/>
            <a:ext cx="3566160" cy="2112264"/>
          </a:xfrm>
          <a:prstGeom prst="rect">
            <a:avLst/>
          </a:prstGeom>
          <a:solidFill>
            <a:srgbClr val="FFF7ED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" y="1645920"/>
            <a:ext cx="3310128" cy="1911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500"/>
              </a:spcBef>
            </a:pPr>
            <a:r>
              <a:rPr sz="1200" b="0" i="0">
                <a:solidFill>
                  <a:srgbClr val="1E1B4B"/>
                </a:solidFill>
              </a:rPr>
              <a:t>• HotpotQA Wikipedia contexts</a:t>
            </a:r>
          </a:p>
          <a:p>
            <a:pPr algn="l">
              <a:spcBef>
                <a:spcPts val="500"/>
              </a:spcBef>
            </a:pPr>
            <a:r>
              <a:rPr sz="1200" b="1" i="0">
                <a:solidFill>
                  <a:srgbClr val="6366F1"/>
                </a:solidFill>
              </a:rPr>
              <a:t>• 5,064 unique chunks indexed</a:t>
            </a:r>
          </a:p>
          <a:p>
            <a:pPr algn="l">
              <a:spcBef>
                <a:spcPts val="500"/>
              </a:spcBef>
            </a:pPr>
            <a:r>
              <a:rPr sz="1200" b="0" i="0">
                <a:solidFill>
                  <a:srgbClr val="1E1B4B"/>
                </a:solidFill>
              </a:rPr>
              <a:t>• 256 tokens / chunk, 64-token overlap</a:t>
            </a:r>
          </a:p>
          <a:p>
            <a:pPr algn="l">
              <a:spcBef>
                <a:spcPts val="500"/>
              </a:spcBef>
            </a:pPr>
            <a:r>
              <a:rPr sz="1200" b="0" i="0">
                <a:solidFill>
                  <a:srgbClr val="1E1B4B"/>
                </a:solidFill>
              </a:rPr>
              <a:t>• Embedding: text-embedding-3-small</a:t>
            </a:r>
          </a:p>
          <a:p>
            <a:pPr algn="l">
              <a:spcBef>
                <a:spcPts val="500"/>
              </a:spcBef>
            </a:pPr>
            <a:r>
              <a:rPr sz="1200" b="0" i="0">
                <a:solidFill>
                  <a:srgbClr val="1E1B4B"/>
                </a:solidFill>
              </a:rPr>
              <a:t>• FAISS IndexFlatIP (L2-normalized)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3822191"/>
            <a:ext cx="3566160" cy="40233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" y="3867911"/>
            <a:ext cx="338327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🔍  BM25 Sparse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" y="4224528"/>
            <a:ext cx="3566160" cy="1993392"/>
          </a:xfrm>
          <a:prstGeom prst="rect">
            <a:avLst/>
          </a:prstGeom>
          <a:solidFill>
            <a:srgbClr val="EEF2FF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616" y="4297679"/>
            <a:ext cx="3310128" cy="1792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500"/>
              </a:spcBef>
            </a:pPr>
            <a:r>
              <a:rPr sz="1200" b="0" i="0">
                <a:solidFill>
                  <a:srgbClr val="1E1B4B"/>
                </a:solidFill>
              </a:rPr>
              <a:t>• BM25Okapi on whitespace tokens</a:t>
            </a:r>
          </a:p>
          <a:p>
            <a:pPr algn="l">
              <a:spcBef>
                <a:spcPts val="500"/>
              </a:spcBef>
            </a:pPr>
            <a:r>
              <a:rPr sz="1200" b="0" i="0">
                <a:solidFill>
                  <a:srgbClr val="1E1B4B"/>
                </a:solidFill>
              </a:rPr>
              <a:t>• Great for exact keyword recall</a:t>
            </a:r>
          </a:p>
          <a:p>
            <a:pPr algn="l">
              <a:spcBef>
                <a:spcPts val="500"/>
              </a:spcBef>
            </a:pPr>
            <a:r>
              <a:rPr sz="1200" b="1" i="0">
                <a:solidFill>
                  <a:srgbClr val="6366F1"/>
                </a:solidFill>
              </a:rPr>
              <a:t>• Top-30 candidates per query</a:t>
            </a:r>
          </a:p>
          <a:p>
            <a:pPr algn="l">
              <a:spcBef>
                <a:spcPts val="500"/>
              </a:spcBef>
            </a:pPr>
            <a:r>
              <a:rPr sz="1200" b="0" i="0">
                <a:solidFill>
                  <a:srgbClr val="6B7280"/>
                </a:solidFill>
              </a:rPr>
              <a:t>• Weak on paraphrases &amp; synonyms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77639" y="1170432"/>
            <a:ext cx="4160520" cy="2514600"/>
          </a:xfrm>
          <a:prstGeom prst="rect">
            <a:avLst/>
          </a:prstGeom>
          <a:solidFill>
            <a:srgbClr val="EDE9FE"/>
          </a:solidFill>
          <a:ln w="254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977639" y="1170432"/>
            <a:ext cx="4160520" cy="384048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96512" y="1197864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⚡  Reciprocal Rank Fusion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96512" y="1645920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B4B"/>
                </a:solidFill>
              </a:rPr>
              <a:t>Combines both result lists: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96512" y="1975104"/>
            <a:ext cx="393192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D28D9"/>
                </a:solidFill>
              </a:rPr>
              <a:t>score(d) = 0.4/(60 + r_bm25)
           + 0.6/(60 + r_dense)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96512" y="2798064"/>
            <a:ext cx="38862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B4B"/>
                </a:solidFill>
              </a:rPr>
              <a:t>• Dense weighted higher (0.6 vs 0.4)
• k=60 prevents rank-1 domination
• Top-20 fused → Re-ranker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977639" y="3822191"/>
            <a:ext cx="4160520" cy="2395728"/>
          </a:xfrm>
          <a:prstGeom prst="rect">
            <a:avLst/>
          </a:prstGeom>
          <a:solidFill>
            <a:srgbClr val="ECFDF5"/>
          </a:solidFill>
          <a:ln w="254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977639" y="3822191"/>
            <a:ext cx="4160520" cy="38404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096512" y="3849624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🎯  LLM Re-Ranker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96512" y="4288536"/>
            <a:ext cx="3931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500"/>
              </a:spcBef>
            </a:pPr>
            <a:r>
              <a:rPr sz="1200" b="0" i="0">
                <a:solidFill>
                  <a:srgbClr val="1E1B4B"/>
                </a:solidFill>
              </a:rPr>
              <a:t>• GPT-4o-mini scores passage relevance</a:t>
            </a:r>
          </a:p>
          <a:p>
            <a:pPr algn="l">
              <a:spcBef>
                <a:spcPts val="500"/>
              </a:spcBef>
            </a:pPr>
            <a:r>
              <a:rPr sz="1200" b="1" i="0">
                <a:solidFill>
                  <a:srgbClr val="0F766E"/>
                </a:solidFill>
              </a:rPr>
              <a:t>• Top-8 passages to Reasoner</a:t>
            </a:r>
          </a:p>
          <a:p>
            <a:pPr algn="l">
              <a:spcBef>
                <a:spcPts val="500"/>
              </a:spcBef>
            </a:pPr>
            <a:r>
              <a:rPr sz="1200" b="0" i="0">
                <a:solidFill>
                  <a:srgbClr val="1E1B4B"/>
                </a:solidFill>
              </a:rPr>
              <a:t>• Removes topically irrelevant results</a:t>
            </a:r>
          </a:p>
          <a:p>
            <a:pPr algn="l">
              <a:spcBef>
                <a:spcPts val="500"/>
              </a:spcBef>
            </a:pPr>
            <a:r>
              <a:rPr sz="1200" b="0" i="0">
                <a:solidFill>
                  <a:srgbClr val="1E1B4B"/>
                </a:solidFill>
              </a:rPr>
              <a:t>• Essential for accurate chain-of-thought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321040" y="1170432"/>
            <a:ext cx="3611880" cy="40233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30767" y="1216152"/>
            <a:ext cx="3429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🧠  FAISS Dense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321040" y="1572768"/>
            <a:ext cx="3611880" cy="2112264"/>
          </a:xfrm>
          <a:prstGeom prst="rect">
            <a:avLst/>
          </a:prstGeom>
          <a:solidFill>
            <a:srgbClr val="EEF2FF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49056" y="1645920"/>
            <a:ext cx="3355848" cy="1911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500"/>
              </a:spcBef>
            </a:pPr>
            <a:r>
              <a:rPr sz="1200" b="0" i="0">
                <a:solidFill>
                  <a:srgbClr val="1E1B4B"/>
                </a:solidFill>
              </a:rPr>
              <a:t>• text-embedding-3-small (1536-dim)</a:t>
            </a:r>
          </a:p>
          <a:p>
            <a:pPr algn="l">
              <a:spcBef>
                <a:spcPts val="500"/>
              </a:spcBef>
            </a:pPr>
            <a:r>
              <a:rPr sz="1200" b="0" i="0">
                <a:solidFill>
                  <a:srgbClr val="1E1B4B"/>
                </a:solidFill>
              </a:rPr>
              <a:t>• Captures semantic similarity</a:t>
            </a:r>
          </a:p>
          <a:p>
            <a:pPr algn="l">
              <a:spcBef>
                <a:spcPts val="500"/>
              </a:spcBef>
            </a:pPr>
            <a:r>
              <a:rPr sz="1200" b="0" i="0">
                <a:solidFill>
                  <a:srgbClr val="1E1B4B"/>
                </a:solidFill>
              </a:rPr>
              <a:t>• Finds paraphrased evidence</a:t>
            </a:r>
          </a:p>
          <a:p>
            <a:pPr algn="l">
              <a:spcBef>
                <a:spcPts val="500"/>
              </a:spcBef>
            </a:pPr>
            <a:r>
              <a:rPr sz="1200" b="1" i="0">
                <a:solidFill>
                  <a:srgbClr val="6366F1"/>
                </a:solidFill>
              </a:rPr>
              <a:t>• Top-30 candidates per query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321040" y="3822191"/>
            <a:ext cx="3611880" cy="2395728"/>
          </a:xfrm>
          <a:prstGeom prst="rect">
            <a:avLst/>
          </a:prstGeom>
          <a:solidFill>
            <a:srgbClr val="F0FDF4"/>
          </a:solidFill>
          <a:ln w="254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321040" y="3822191"/>
            <a:ext cx="3611880" cy="38404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39912" y="3849624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📊  Why Hybrid?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39912" y="4288536"/>
            <a:ext cx="3383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500"/>
              </a:spcBef>
            </a:pPr>
            <a:r>
              <a:rPr sz="1100" b="0" i="0">
                <a:solidFill>
                  <a:srgbClr val="1E1B4B"/>
                </a:solidFill>
              </a:rPr>
              <a:t>• BM25 alone: misses synonyms &amp; paraphrases</a:t>
            </a:r>
          </a:p>
          <a:p>
            <a:pPr algn="l">
              <a:spcBef>
                <a:spcPts val="500"/>
              </a:spcBef>
            </a:pPr>
            <a:r>
              <a:rPr sz="1100" b="0" i="0">
                <a:solidFill>
                  <a:srgbClr val="1E1B4B"/>
                </a:solidFill>
              </a:rPr>
              <a:t>• Dense alone: misses rare proper nouns</a:t>
            </a:r>
          </a:p>
          <a:p>
            <a:pPr algn="l">
              <a:spcBef>
                <a:spcPts val="500"/>
              </a:spcBef>
            </a:pPr>
            <a:r>
              <a:rPr sz="1200" b="1" i="0">
                <a:solidFill>
                  <a:srgbClr val="16A34A"/>
                </a:solidFill>
              </a:rPr>
              <a:t>• RRF fusion captures BOTH signals</a:t>
            </a:r>
          </a:p>
          <a:p>
            <a:pPr algn="l">
              <a:spcBef>
                <a:spcPts val="500"/>
              </a:spcBef>
            </a:pPr>
            <a:r>
              <a:rPr sz="1100" b="0" i="0">
                <a:solidFill>
                  <a:srgbClr val="1E1B4B"/>
                </a:solidFill>
              </a:rPr>
              <a:t>• Industry-standard production RAG approach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556248"/>
            <a:ext cx="12188952" cy="3017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82880" y="6565392"/>
            <a:ext cx="1179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7D2FE"/>
                </a:solidFill>
              </a:rPr>
              <a:t>Agentic Multi-Hop RAG  ·  Alissa Jouljian  ·  NLP Course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7899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82296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Stretch Goals — All 9 Implemented 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9224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7D2FE"/>
                </a:solidFill>
              </a:rPr>
              <a:t>Research-grade additions beyond the base requirements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256032" y="1207008"/>
            <a:ext cx="3822191" cy="1691640"/>
          </a:xfrm>
          <a:prstGeom prst="rect">
            <a:avLst/>
          </a:prstGeom>
          <a:solidFill>
            <a:srgbClr val="FFFF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1207008"/>
            <a:ext cx="3822191" cy="40233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252728"/>
            <a:ext cx="36027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✓  🔄  Query Rewriting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1700784"/>
            <a:ext cx="356616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B4B"/>
                </a:solidFill>
              </a:rPr>
              <a:t>Rewrites failed sub-Qs with all
gathered context for sharper search</a:t>
            </a:r>
          </a:p>
        </p:txBody>
      </p:sp>
      <p:sp>
        <p:nvSpPr>
          <p:cNvPr id="9" name="Rectangle 8"/>
          <p:cNvSpPr/>
          <p:nvPr/>
        </p:nvSpPr>
        <p:spPr>
          <a:xfrm>
            <a:off x="4261104" y="1207008"/>
            <a:ext cx="3822191" cy="1691640"/>
          </a:xfrm>
          <a:prstGeom prst="rect">
            <a:avLst/>
          </a:prstGeom>
          <a:solidFill>
            <a:srgbClr val="FFFF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61104" y="1207008"/>
            <a:ext cx="3822191" cy="40233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70832" y="1252728"/>
            <a:ext cx="36027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✓  💾  Sub-Answer Cache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1700784"/>
            <a:ext cx="356616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B4B"/>
                </a:solidFill>
              </a:rPr>
              <a:t>Skips redundant LLM calls for
repeated sub-questions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66175" y="1207008"/>
            <a:ext cx="3822191" cy="1691640"/>
          </a:xfrm>
          <a:prstGeom prst="rect">
            <a:avLst/>
          </a:prstGeom>
          <a:solidFill>
            <a:srgbClr val="FFFFFF"/>
          </a:solidFill>
          <a:ln w="254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66175" y="1207008"/>
            <a:ext cx="3822191" cy="40233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75903" y="1252728"/>
            <a:ext cx="36027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✓  ⚡  Dynamic LLM Budget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94192" y="1700784"/>
            <a:ext cx="356616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B4B"/>
                </a:solidFill>
              </a:rPr>
              <a:t>Complexity classifier → Simple=4
Medium=8  /  Hard=12 call ceiling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6032" y="3035808"/>
            <a:ext cx="3822191" cy="1691640"/>
          </a:xfrm>
          <a:prstGeom prst="rect">
            <a:avLst/>
          </a:prstGeom>
          <a:solidFill>
            <a:srgbClr val="FFFFFF"/>
          </a:solidFill>
          <a:ln w="254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6032" y="3035808"/>
            <a:ext cx="3822191" cy="40233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3081528"/>
            <a:ext cx="36027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✓  🛑  Early Stop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" y="3529584"/>
            <a:ext cx="356616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B4B"/>
                </a:solidFill>
              </a:rPr>
              <a:t>Skips rewrite loop when
verification confidence ≥ 0.85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61104" y="3035808"/>
            <a:ext cx="3822191" cy="1691640"/>
          </a:xfrm>
          <a:prstGeom prst="rect">
            <a:avLst/>
          </a:prstGeom>
          <a:solidFill>
            <a:srgbClr val="FFFFFF"/>
          </a:solidFill>
          <a:ln w="254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61104" y="3035808"/>
            <a:ext cx="3822191" cy="40233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70832" y="3081528"/>
            <a:ext cx="36027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✓  ✅  Claim Verification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3529584"/>
            <a:ext cx="356616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B4B"/>
                </a:solidFill>
              </a:rPr>
              <a:t>Extracts atomic claims, checks
each vs retrieved context YES/NO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66175" y="3035808"/>
            <a:ext cx="3822191" cy="1691640"/>
          </a:xfrm>
          <a:prstGeom prst="rect">
            <a:avLst/>
          </a:prstGeom>
          <a:solidFill>
            <a:srgbClr val="FFFFFF"/>
          </a:solidFill>
          <a:ln w="254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66175" y="3035808"/>
            <a:ext cx="3822191" cy="40233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75903" y="3081528"/>
            <a:ext cx="36027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✓  📏  ROUGE-L from Scratch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94192" y="3529584"/>
            <a:ext cx="356616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B4B"/>
                </a:solidFill>
              </a:rPr>
              <a:t>LCS dynamic programming,
no library — implemented manually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56032" y="4864608"/>
            <a:ext cx="3822191" cy="1691640"/>
          </a:xfrm>
          <a:prstGeom prst="rect">
            <a:avLst/>
          </a:prstGeom>
          <a:solidFill>
            <a:srgbClr val="FFFFFF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56032" y="4864608"/>
            <a:ext cx="3822191" cy="40233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4910328"/>
            <a:ext cx="36027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✓  📊  Budget vs Accuracy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4048" y="5358384"/>
            <a:ext cx="356616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B4B"/>
                </a:solidFill>
              </a:rPr>
              <a:t>Scatter + regression: LLM calls
vs F1, coloured by complexity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61104" y="4864608"/>
            <a:ext cx="3822191" cy="1691640"/>
          </a:xfrm>
          <a:prstGeom prst="rect">
            <a:avLst/>
          </a:prstGeom>
          <a:solidFill>
            <a:srgbClr val="FFFFFF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261104" y="4864608"/>
            <a:ext cx="3822191" cy="40233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70832" y="4910328"/>
            <a:ext cx="36027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✓  🎯  Complexity Breakdown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89120" y="5358384"/>
            <a:ext cx="356616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B4B"/>
                </a:solidFill>
              </a:rPr>
              <a:t>Token F1 by simple/medium/hard;
shows where agent gains most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66175" y="4864608"/>
            <a:ext cx="3822191" cy="1691640"/>
          </a:xfrm>
          <a:prstGeom prst="rect">
            <a:avLst/>
          </a:prstGeom>
          <a:solidFill>
            <a:srgbClr val="FFFFFF"/>
          </a:solidFill>
          <a:ln w="254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266175" y="4864608"/>
            <a:ext cx="3822191" cy="402336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75903" y="4910328"/>
            <a:ext cx="36027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✓  🔬  Error Taxonomy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94192" y="5358384"/>
            <a:ext cx="356616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B4B"/>
                </a:solidFill>
              </a:rPr>
              <a:t>4-category per-question analysis:
correct / retrieval / hallucination / reasoning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556248"/>
            <a:ext cx="12188952" cy="3017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82880" y="6565392"/>
            <a:ext cx="1179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7D2FE"/>
                </a:solidFill>
              </a:rPr>
              <a:t>Agentic Multi-Hop RAG  ·  Alissa Jouljian  ·  NLP Course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7899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82296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Evaluation Setup — Models, Metrics &amp; Baselines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9224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7D2FE"/>
                </a:solidFill>
              </a:rPr>
              <a:t>All experiments: gpt-4o-mini · text-embedding-3-small · 30 hard HotpotQA questions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170432"/>
            <a:ext cx="3749039" cy="40233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38328" y="1216152"/>
            <a:ext cx="356615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🤖  Models &amp; Hyperparameters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572768"/>
            <a:ext cx="3749039" cy="4718303"/>
          </a:xfrm>
          <a:prstGeom prst="rect">
            <a:avLst/>
          </a:prstGeom>
          <a:solidFill>
            <a:srgbClr val="EEF2FF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" y="1645920"/>
            <a:ext cx="3493007" cy="4517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500"/>
              </a:spcBef>
            </a:pPr>
            <a:r>
              <a:rPr sz="1300" b="1" i="0">
                <a:solidFill>
                  <a:srgbClr val="6366F1"/>
                </a:solidFill>
              </a:rPr>
              <a:t>• LLM:  gpt-4o-mini</a:t>
            </a:r>
          </a:p>
          <a:p>
            <a:pPr algn="l">
              <a:spcBef>
                <a:spcPts val="500"/>
              </a:spcBef>
            </a:pPr>
            <a:r>
              <a:rPr sz="1100" b="0" i="0">
                <a:solidFill>
                  <a:srgbClr val="1E1B4B"/>
                </a:solidFill>
              </a:rPr>
              <a:t>  Temperature 0.1 — generation</a:t>
            </a:r>
          </a:p>
          <a:p>
            <a:pPr algn="l">
              <a:spcBef>
                <a:spcPts val="500"/>
              </a:spcBef>
            </a:pPr>
            <a:r>
              <a:rPr sz="1100" b="0" i="0">
                <a:solidFill>
                  <a:srgbClr val="1E1B4B"/>
                </a:solidFill>
              </a:rPr>
              <a:t>  Temperature 0.0 — structured output</a:t>
            </a:r>
          </a:p>
          <a:p>
            <a:pPr algn="l">
              <a:spcBef>
                <a:spcPts val="500"/>
              </a:spcBef>
            </a:pPr>
            <a:r>
              <a:rPr sz="1200" b="0" i="0">
                <a:solidFill>
                  <a:srgbClr val="1E1B4B"/>
                </a:solidFill>
              </a:rPr>
              <a:t>• Embeddings:  text-embedding-3-small</a:t>
            </a:r>
          </a:p>
          <a:p>
            <a:pPr algn="l">
              <a:spcBef>
                <a:spcPts val="500"/>
              </a:spcBef>
            </a:pPr>
            <a:r>
              <a:rPr sz="1200" b="0" i="0">
                <a:solidFill>
                  <a:srgbClr val="1E1B4B"/>
                </a:solidFill>
              </a:rPr>
              <a:t>• Zero-shot — no fine-tuning</a:t>
            </a:r>
          </a:p>
          <a:p>
            <a:pPr algn="l">
              <a:spcBef>
                <a:spcPts val="500"/>
              </a:spcBef>
            </a:pPr>
            <a:r>
              <a:rPr sz="400" b="0" i="0">
                <a:solidFill>
                  <a:srgbClr val="1E1B4B"/>
                </a:solidFill>
              </a:rPr>
              <a:t/>
            </a:r>
          </a:p>
          <a:p>
            <a:pPr algn="l">
              <a:spcBef>
                <a:spcPts val="500"/>
              </a:spcBef>
            </a:pPr>
            <a:r>
              <a:rPr sz="1200" b="1" i="0">
                <a:solidFill>
                  <a:srgbClr val="1E1B4B"/>
                </a:solidFill>
              </a:rPr>
              <a:t>Hyperparameters:</a:t>
            </a:r>
          </a:p>
          <a:p>
            <a:pPr>
              <a:spcBef>
                <a:spcPts val="300"/>
              </a:spcBef>
            </a:pPr>
            <a:r>
              <a:rPr sz="1100" b="1">
                <a:solidFill>
                  <a:srgbClr val="1E1B4B"/>
                </a:solidFill>
              </a:rPr>
              <a:t>  Chunk size:  </a:t>
            </a:r>
            <a:r>
              <a:rPr sz="1100">
                <a:solidFill>
                  <a:srgbClr val="6366F1"/>
                </a:solidFill>
              </a:rPr>
              <a:t>256 tokens</a:t>
            </a:r>
          </a:p>
          <a:p>
            <a:pPr>
              <a:spcBef>
                <a:spcPts val="300"/>
              </a:spcBef>
            </a:pPr>
            <a:r>
              <a:rPr sz="1100" b="1">
                <a:solidFill>
                  <a:srgbClr val="1E1B4B"/>
                </a:solidFill>
              </a:rPr>
              <a:t>  Chunk overlap:  </a:t>
            </a:r>
            <a:r>
              <a:rPr sz="1100">
                <a:solidFill>
                  <a:srgbClr val="6366F1"/>
                </a:solidFill>
              </a:rPr>
              <a:t>64 tokens</a:t>
            </a:r>
          </a:p>
          <a:p>
            <a:pPr>
              <a:spcBef>
                <a:spcPts val="300"/>
              </a:spcBef>
            </a:pPr>
            <a:r>
              <a:rPr sz="1100" b="1">
                <a:solidFill>
                  <a:srgbClr val="1E1B4B"/>
                </a:solidFill>
              </a:rPr>
              <a:t>  BM25 / Dense top-k:  </a:t>
            </a:r>
            <a:r>
              <a:rPr sz="1100">
                <a:solidFill>
                  <a:srgbClr val="6366F1"/>
                </a:solidFill>
              </a:rPr>
              <a:t>30 each</a:t>
            </a:r>
          </a:p>
          <a:p>
            <a:pPr>
              <a:spcBef>
                <a:spcPts val="300"/>
              </a:spcBef>
            </a:pPr>
            <a:r>
              <a:rPr sz="1100" b="1">
                <a:solidFill>
                  <a:srgbClr val="1E1B4B"/>
                </a:solidFill>
              </a:rPr>
              <a:t>  RRF fused top-k:  </a:t>
            </a:r>
            <a:r>
              <a:rPr sz="1100">
                <a:solidFill>
                  <a:srgbClr val="6366F1"/>
                </a:solidFill>
              </a:rPr>
              <a:t>20</a:t>
            </a:r>
          </a:p>
          <a:p>
            <a:pPr>
              <a:spcBef>
                <a:spcPts val="300"/>
              </a:spcBef>
            </a:pPr>
            <a:r>
              <a:rPr sz="1100" b="1">
                <a:solidFill>
                  <a:srgbClr val="1E1B4B"/>
                </a:solidFill>
              </a:rPr>
              <a:t>  Re-ranked to LLM:  </a:t>
            </a:r>
            <a:r>
              <a:rPr sz="1100">
                <a:solidFill>
                  <a:srgbClr val="6366F1"/>
                </a:solidFill>
              </a:rPr>
              <a:t>8 passages</a:t>
            </a:r>
          </a:p>
          <a:p>
            <a:pPr>
              <a:spcBef>
                <a:spcPts val="300"/>
              </a:spcBef>
            </a:pPr>
            <a:r>
              <a:rPr sz="1100" b="1">
                <a:solidFill>
                  <a:srgbClr val="1E1B4B"/>
                </a:solidFill>
              </a:rPr>
              <a:t>  Max sub-questions:  </a:t>
            </a:r>
            <a:r>
              <a:rPr sz="1100">
                <a:solidFill>
                  <a:srgbClr val="6366F1"/>
                </a:solidFill>
              </a:rPr>
              <a:t>5</a:t>
            </a:r>
          </a:p>
          <a:p>
            <a:pPr>
              <a:spcBef>
                <a:spcPts val="300"/>
              </a:spcBef>
            </a:pPr>
            <a:r>
              <a:rPr sz="1100" b="1">
                <a:solidFill>
                  <a:srgbClr val="1E1B4B"/>
                </a:solidFill>
              </a:rPr>
              <a:t>  Verification threshold:  </a:t>
            </a:r>
            <a:r>
              <a:rPr sz="1100">
                <a:solidFill>
                  <a:srgbClr val="6366F1"/>
                </a:solidFill>
              </a:rPr>
              <a:t>0.60</a:t>
            </a:r>
          </a:p>
          <a:p>
            <a:pPr>
              <a:spcBef>
                <a:spcPts val="300"/>
              </a:spcBef>
            </a:pPr>
            <a:r>
              <a:rPr sz="1100" b="1">
                <a:solidFill>
                  <a:srgbClr val="1E1B4B"/>
                </a:solidFill>
              </a:rPr>
              <a:t>  Early-stop threshold:  </a:t>
            </a:r>
            <a:r>
              <a:rPr sz="1100">
                <a:solidFill>
                  <a:srgbClr val="6366F1"/>
                </a:solidFill>
              </a:rPr>
              <a:t>0.85</a:t>
            </a:r>
          </a:p>
          <a:p>
            <a:pPr>
              <a:spcBef>
                <a:spcPts val="300"/>
              </a:spcBef>
            </a:pPr>
            <a:r>
              <a:rPr sz="1100" b="1">
                <a:solidFill>
                  <a:srgbClr val="1E1B4B"/>
                </a:solidFill>
              </a:rPr>
              <a:t>  Budget S / M / H:  </a:t>
            </a:r>
            <a:r>
              <a:rPr sz="1100">
                <a:solidFill>
                  <a:srgbClr val="6366F1"/>
                </a:solidFill>
              </a:rPr>
              <a:t>4 / 8 / 12 calls</a:t>
            </a:r>
          </a:p>
        </p:txBody>
      </p:sp>
      <p:sp>
        <p:nvSpPr>
          <p:cNvPr id="9" name="Rectangle 8"/>
          <p:cNvSpPr/>
          <p:nvPr/>
        </p:nvSpPr>
        <p:spPr>
          <a:xfrm>
            <a:off x="4160520" y="1170432"/>
            <a:ext cx="3931920" cy="40233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70248" y="1216152"/>
            <a:ext cx="37490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📏  6 Evaluation Metrics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60520" y="1572768"/>
            <a:ext cx="3931920" cy="4718303"/>
          </a:xfrm>
          <a:prstGeom prst="rect">
            <a:avLst/>
          </a:prstGeom>
          <a:solidFill>
            <a:srgbClr val="ECFDF5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88536" y="1645920"/>
            <a:ext cx="3675887" cy="4517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700"/>
              </a:spcBef>
            </a:pPr>
            <a:r>
              <a:rPr sz="1200" b="1">
                <a:solidFill>
                  <a:srgbClr val="0F766E"/>
                </a:solidFill>
              </a:rPr>
              <a:t>• Exact Match (EM):  </a:t>
            </a:r>
            <a:r>
              <a:rPr sz="1100">
                <a:solidFill>
                  <a:srgbClr val="1E1B4B"/>
                </a:solidFill>
              </a:rPr>
              <a:t>Binary match after normalisation</a:t>
            </a:r>
          </a:p>
          <a:p>
            <a:pPr>
              <a:spcBef>
                <a:spcPts val="700"/>
              </a:spcBef>
            </a:pPr>
            <a:r>
              <a:rPr sz="1200" b="1">
                <a:solidFill>
                  <a:srgbClr val="0F766E"/>
                </a:solidFill>
              </a:rPr>
              <a:t>• Token F1:  </a:t>
            </a:r>
            <a:r>
              <a:rPr sz="1100">
                <a:solidFill>
                  <a:srgbClr val="1E1B4B"/>
                </a:solidFill>
              </a:rPr>
              <a:t>Precision-recall F1 over answer tokens</a:t>
            </a:r>
          </a:p>
          <a:p>
            <a:pPr>
              <a:spcBef>
                <a:spcPts val="700"/>
              </a:spcBef>
            </a:pPr>
            <a:r>
              <a:rPr sz="1200" b="1">
                <a:solidFill>
                  <a:srgbClr val="0F766E"/>
                </a:solidFill>
              </a:rPr>
              <a:t>• ROUGE-L:  </a:t>
            </a:r>
            <a:r>
              <a:rPr sz="1100">
                <a:solidFill>
                  <a:srgbClr val="1E1B4B"/>
                </a:solidFill>
              </a:rPr>
              <a:t>LCS-based F1 — paraphrase-robust</a:t>
            </a:r>
          </a:p>
          <a:p>
            <a:pPr>
              <a:spcBef>
                <a:spcPts val="700"/>
              </a:spcBef>
            </a:pPr>
            <a:r>
              <a:rPr sz="1200" b="1">
                <a:solidFill>
                  <a:srgbClr val="0F766E"/>
                </a:solidFill>
              </a:rPr>
              <a:t>• Groundedness:  </a:t>
            </a:r>
            <a:r>
              <a:rPr sz="1100">
                <a:solidFill>
                  <a:srgbClr val="1E1B4B"/>
                </a:solidFill>
              </a:rPr>
              <a:t>Fraction of claims supported by context</a:t>
            </a:r>
          </a:p>
          <a:p>
            <a:pPr>
              <a:spcBef>
                <a:spcPts val="700"/>
              </a:spcBef>
            </a:pPr>
            <a:r>
              <a:rPr sz="1200" b="1">
                <a:solidFill>
                  <a:srgbClr val="0F766E"/>
                </a:solidFill>
              </a:rPr>
              <a:t>• Hallucination Rate:  </a:t>
            </a:r>
            <a:r>
              <a:rPr sz="1100">
                <a:solidFill>
                  <a:srgbClr val="1E1B4B"/>
                </a:solidFill>
              </a:rPr>
              <a:t>= 1 − Groundedness</a:t>
            </a:r>
          </a:p>
          <a:p>
            <a:pPr>
              <a:spcBef>
                <a:spcPts val="700"/>
              </a:spcBef>
            </a:pPr>
            <a:r>
              <a:rPr sz="1200" b="1">
                <a:solidFill>
                  <a:srgbClr val="0F766E"/>
                </a:solidFill>
              </a:rPr>
              <a:t>• Answer Relevance:  </a:t>
            </a:r>
            <a:r>
              <a:rPr sz="1100">
                <a:solidFill>
                  <a:srgbClr val="1E1B4B"/>
                </a:solidFill>
              </a:rPr>
              <a:t>LLM-as-judge score 0 → 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75320" y="1170432"/>
            <a:ext cx="3685032" cy="402336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85048" y="1216152"/>
            <a:ext cx="35021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⚗️  Baselines Compared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75320" y="1572768"/>
            <a:ext cx="3685032" cy="4718303"/>
          </a:xfrm>
          <a:prstGeom prst="rect">
            <a:avLst/>
          </a:prstGeom>
          <a:solidFill>
            <a:srgbClr val="F0FDF4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03336" y="1645920"/>
            <a:ext cx="3429000" cy="4517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500"/>
              </a:spcBef>
            </a:pPr>
            <a:r>
              <a:rPr sz="1400" b="1" i="0">
                <a:solidFill>
                  <a:srgbClr val="6366F1"/>
                </a:solidFill>
              </a:rPr>
              <a:t>AGENTIC RAG  (ours)</a:t>
            </a:r>
          </a:p>
          <a:p>
            <a:pPr algn="l">
              <a:spcBef>
                <a:spcPts val="500"/>
              </a:spcBef>
            </a:pPr>
            <a:r>
              <a:rPr sz="1100" b="0" i="0">
                <a:solidFill>
                  <a:srgbClr val="1E1B4B"/>
                </a:solidFill>
              </a:rPr>
              <a:t>Full 6-state loop:</a:t>
            </a:r>
          </a:p>
          <a:p>
            <a:pPr algn="l">
              <a:spcBef>
                <a:spcPts val="500"/>
              </a:spcBef>
            </a:pPr>
            <a:r>
              <a:rPr sz="1100" b="0" i="0">
                <a:solidFill>
                  <a:srgbClr val="1E1B4B"/>
                </a:solidFill>
              </a:rPr>
              <a:t>• DECOMPOSE → RETRIEVE</a:t>
            </a:r>
          </a:p>
          <a:p>
            <a:pPr algn="l">
              <a:spcBef>
                <a:spcPts val="500"/>
              </a:spcBef>
            </a:pPr>
            <a:r>
              <a:rPr sz="1100" b="0" i="0">
                <a:solidFill>
                  <a:srgbClr val="1E1B4B"/>
                </a:solidFill>
              </a:rPr>
              <a:t>• REASON → VERIFY → REWRITE</a:t>
            </a:r>
          </a:p>
          <a:p>
            <a:pPr algn="l">
              <a:spcBef>
                <a:spcPts val="500"/>
              </a:spcBef>
            </a:pPr>
            <a:r>
              <a:rPr sz="1100" b="0" i="0">
                <a:solidFill>
                  <a:srgbClr val="1E1B4B"/>
                </a:solidFill>
              </a:rPr>
              <a:t>• Dynamic budget 4/8/12</a:t>
            </a:r>
          </a:p>
          <a:p>
            <a:pPr algn="l">
              <a:spcBef>
                <a:spcPts val="500"/>
              </a:spcBef>
            </a:pPr>
            <a:r>
              <a:rPr sz="1100" b="0" i="0">
                <a:solidFill>
                  <a:srgbClr val="1E1B4B"/>
                </a:solidFill>
              </a:rPr>
              <a:t>• Self-verification every answer</a:t>
            </a:r>
          </a:p>
          <a:p>
            <a:pPr algn="l">
              <a:spcBef>
                <a:spcPts val="500"/>
              </a:spcBef>
            </a:pPr>
            <a:r>
              <a:rPr sz="600" b="0" i="0">
                <a:solidFill>
                  <a:srgbClr val="1E1B4B"/>
                </a:solidFill>
              </a:rPr>
              <a:t/>
            </a:r>
          </a:p>
          <a:p>
            <a:pPr algn="l">
              <a:spcBef>
                <a:spcPts val="500"/>
              </a:spcBef>
            </a:pPr>
            <a:r>
              <a:rPr sz="1400" b="1" i="0">
                <a:solidFill>
                  <a:srgbClr val="F43F5E"/>
                </a:solidFill>
              </a:rPr>
              <a:t>STATIC RAG  (baseline)</a:t>
            </a:r>
          </a:p>
          <a:p>
            <a:pPr algn="l">
              <a:spcBef>
                <a:spcPts val="500"/>
              </a:spcBef>
            </a:pPr>
            <a:r>
              <a:rPr sz="1100" b="0" i="0">
                <a:solidFill>
                  <a:srgbClr val="1E1B4B"/>
                </a:solidFill>
              </a:rPr>
              <a:t>Single-shot pipeline:</a:t>
            </a:r>
          </a:p>
          <a:p>
            <a:pPr algn="l">
              <a:spcBef>
                <a:spcPts val="500"/>
              </a:spcBef>
            </a:pPr>
            <a:r>
              <a:rPr sz="1100" b="0" i="0">
                <a:solidFill>
                  <a:srgbClr val="1E1B4B"/>
                </a:solidFill>
              </a:rPr>
              <a:t>• 1 retrieve + 1 generate</a:t>
            </a:r>
          </a:p>
          <a:p>
            <a:pPr algn="l">
              <a:spcBef>
                <a:spcPts val="500"/>
              </a:spcBef>
            </a:pPr>
            <a:r>
              <a:rPr sz="1100" b="0" i="0">
                <a:solidFill>
                  <a:srgbClr val="1E1B4B"/>
                </a:solidFill>
              </a:rPr>
              <a:t>• No decomposition</a:t>
            </a:r>
          </a:p>
          <a:p>
            <a:pPr algn="l">
              <a:spcBef>
                <a:spcPts val="500"/>
              </a:spcBef>
            </a:pPr>
            <a:r>
              <a:rPr sz="1100" b="0" i="0">
                <a:solidFill>
                  <a:srgbClr val="1E1B4B"/>
                </a:solidFill>
              </a:rPr>
              <a:t>• No verification, no re-query</a:t>
            </a:r>
          </a:p>
          <a:p>
            <a:pPr algn="l">
              <a:spcBef>
                <a:spcPts val="500"/>
              </a:spcBef>
            </a:pPr>
            <a:r>
              <a:rPr sz="600" b="0" i="0">
                <a:solidFill>
                  <a:srgbClr val="1E1B4B"/>
                </a:solidFill>
              </a:rPr>
              <a:t/>
            </a:r>
          </a:p>
          <a:p>
            <a:pPr algn="l">
              <a:spcBef>
                <a:spcPts val="500"/>
              </a:spcBef>
            </a:pPr>
            <a:r>
              <a:rPr sz="1100" b="0" i="1">
                <a:solidFill>
                  <a:srgbClr val="6B7280"/>
                </a:solidFill>
              </a:rPr>
              <a:t>Isolates every agentic component's</a:t>
            </a:r>
          </a:p>
          <a:p>
            <a:pPr algn="l">
              <a:spcBef>
                <a:spcPts val="500"/>
              </a:spcBef>
            </a:pPr>
            <a:r>
              <a:rPr sz="1100" b="0" i="1">
                <a:solidFill>
                  <a:srgbClr val="6B7280"/>
                </a:solidFill>
              </a:rPr>
              <a:t>individual contribution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56248"/>
            <a:ext cx="12188952" cy="3017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2880" y="6565392"/>
            <a:ext cx="1179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7D2FE"/>
                </a:solidFill>
              </a:rPr>
              <a:t>Agentic Multi-Hop RAG  ·  Alissa Jouljian  ·  NLP Course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7899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82296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Main Results: Agentic vs Static RAG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9224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7D2FE"/>
                </a:solidFill>
              </a:rPr>
              <a:t>30 hard HotpotQA questions · GPT-4o-mini · text-embedding-3-small · zero-shot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188720"/>
            <a:ext cx="7040880" cy="42062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93192" y="1243584"/>
            <a:ext cx="2834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Metric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19272" y="1243584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Static RAG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65192" y="1243584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Agentic RAG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11112" y="1243584"/>
            <a:ext cx="731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Δ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609344"/>
            <a:ext cx="7040880" cy="420624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2336" y="1673352"/>
            <a:ext cx="2743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1B4B"/>
                </a:solidFill>
              </a:rPr>
              <a:t>Exact Match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1673352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E1B4B"/>
                </a:solidFill>
              </a:rPr>
              <a:t>0.000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92040" y="1673352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E1B4B"/>
                </a:solidFill>
              </a:rPr>
              <a:t>0.000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1673352"/>
            <a:ext cx="777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E1B4B"/>
                </a:solidFill>
              </a:rPr>
              <a:t>—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2029968"/>
            <a:ext cx="704088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2336" y="2093976"/>
            <a:ext cx="2743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1B4B"/>
                </a:solidFill>
              </a:rPr>
              <a:t>Token F1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2093976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E1B4B"/>
                </a:solidFill>
              </a:rPr>
              <a:t>0.014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2040" y="2093976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6A34A"/>
                </a:solidFill>
              </a:rPr>
              <a:t>0.032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093976"/>
            <a:ext cx="777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6A34A"/>
                </a:solidFill>
              </a:rPr>
              <a:t>+128%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2450592"/>
            <a:ext cx="7040880" cy="420624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02336" y="2514600"/>
            <a:ext cx="2743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1B4B"/>
                </a:solidFill>
              </a:rPr>
              <a:t>ROUGE-L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46120" y="2514600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E1B4B"/>
                </a:solidFill>
              </a:rPr>
              <a:t>0.014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92040" y="2514600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6A34A"/>
                </a:solidFill>
              </a:rPr>
              <a:t>0.032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2514600"/>
            <a:ext cx="777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6A34A"/>
                </a:solidFill>
              </a:rPr>
              <a:t>+128%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2871216"/>
            <a:ext cx="704088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02336" y="2935224"/>
            <a:ext cx="2743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1B4B"/>
                </a:solidFill>
              </a:rPr>
              <a:t>Groundedness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46120" y="2935224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E1B4B"/>
                </a:solidFill>
              </a:rPr>
              <a:t>0.222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92040" y="2935224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6A34A"/>
                </a:solidFill>
              </a:rPr>
              <a:t>0.342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2935224"/>
            <a:ext cx="777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6A34A"/>
                </a:solidFill>
              </a:rPr>
              <a:t>+54%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3291840"/>
            <a:ext cx="7040880" cy="420624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02336" y="3355848"/>
            <a:ext cx="2743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1B4B"/>
                </a:solidFill>
              </a:rPr>
              <a:t>Hallucination Rate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46120" y="3355848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E1B4B"/>
                </a:solidFill>
              </a:rPr>
              <a:t>0.778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92040" y="3355848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6A34A"/>
                </a:solidFill>
              </a:rPr>
              <a:t>0.658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3355848"/>
            <a:ext cx="777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6A34A"/>
                </a:solidFill>
              </a:rPr>
              <a:t>−15%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3712464"/>
            <a:ext cx="704088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02336" y="3776472"/>
            <a:ext cx="2743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1B4B"/>
                </a:solidFill>
              </a:rPr>
              <a:t>Answer Relevance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46120" y="3776472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E1B4B"/>
                </a:solidFill>
              </a:rPr>
              <a:t>0.160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92040" y="3776472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6A34A"/>
                </a:solidFill>
              </a:rPr>
              <a:t>0.417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92240" y="3776472"/>
            <a:ext cx="777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6A34A"/>
                </a:solidFill>
              </a:rPr>
              <a:t>+161%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4224528"/>
            <a:ext cx="7040880" cy="329184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02336" y="4270248"/>
            <a:ext cx="6858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Efficiency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0040" y="4553712"/>
            <a:ext cx="7040880" cy="384048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02336" y="4608576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B4B"/>
                </a:solidFill>
              </a:rPr>
              <a:t>Avg Latency (s)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246120" y="4608576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E1B4B"/>
                </a:solidFill>
              </a:rPr>
              <a:t>2.4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892040" y="4608576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43F5E"/>
                </a:solidFill>
              </a:rPr>
              <a:t>26.1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92240" y="4608576"/>
            <a:ext cx="777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43F5E"/>
                </a:solidFill>
              </a:rPr>
              <a:t>×11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0040" y="4937760"/>
            <a:ext cx="704088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02336" y="4992624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B4B"/>
                </a:solidFill>
              </a:rPr>
              <a:t>Avg LLM Calls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246120" y="4992624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E1B4B"/>
                </a:solidFill>
              </a:rPr>
              <a:t>1.0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892040" y="4992624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E1B4B"/>
                </a:solidFill>
              </a:rPr>
              <a:t>9.6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92240" y="4992624"/>
            <a:ext cx="777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E1B4B"/>
                </a:solidFill>
              </a:rPr>
              <a:t>+8.6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20040" y="5321808"/>
            <a:ext cx="7040880" cy="384048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02336" y="5376672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B4B"/>
                </a:solidFill>
              </a:rPr>
              <a:t>Avg Retrievals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246120" y="5376672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E1B4B"/>
                </a:solidFill>
              </a:rPr>
              <a:t>1.0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892040" y="5376672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E1B4B"/>
                </a:solidFill>
              </a:rPr>
              <a:t>4.7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92240" y="5376672"/>
            <a:ext cx="777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E1B4B"/>
                </a:solidFill>
              </a:rPr>
              <a:t>+3.7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589520" y="1188720"/>
            <a:ext cx="4297680" cy="1828800"/>
          </a:xfrm>
          <a:prstGeom prst="rect">
            <a:avLst/>
          </a:prstGeom>
          <a:solidFill>
            <a:srgbClr val="ECFDF5"/>
          </a:solidFill>
          <a:ln w="254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680960" y="1298448"/>
            <a:ext cx="4114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16A34A"/>
                </a:solidFill>
              </a:rPr>
              <a:t>+161%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680960" y="2157984"/>
            <a:ext cx="4114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6A34A"/>
                </a:solidFill>
              </a:rPr>
              <a:t>Answer Relevance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680960" y="2505456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7280"/>
                </a:solidFill>
              </a:rPr>
              <a:t>(0.160 → 0.417)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589520" y="3182112"/>
            <a:ext cx="4297680" cy="1828800"/>
          </a:xfrm>
          <a:prstGeom prst="rect">
            <a:avLst/>
          </a:prstGeom>
          <a:solidFill>
            <a:srgbClr val="EEF2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680960" y="3291840"/>
            <a:ext cx="4114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6366F1"/>
                </a:solidFill>
              </a:rPr>
              <a:t>25 / 30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680960" y="4151376"/>
            <a:ext cx="4114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6366F1"/>
                </a:solidFill>
              </a:rPr>
              <a:t>Questions: Agentic Wins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680960" y="4498848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7280"/>
                </a:solidFill>
              </a:rPr>
              <a:t>Answer Relevance (83%)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589520" y="5175504"/>
            <a:ext cx="4297680" cy="950976"/>
          </a:xfrm>
          <a:prstGeom prst="rect">
            <a:avLst/>
          </a:prstGeom>
          <a:solidFill>
            <a:srgbClr val="FFF1F2"/>
          </a:solidFill>
          <a:ln w="254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699248" y="5266944"/>
            <a:ext cx="41148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43F5E"/>
                </a:solidFill>
              </a:rPr>
              <a:t>11× slower — but measurably better quality on every metric</a:t>
            </a:r>
          </a:p>
        </p:txBody>
      </p:sp>
      <p:sp>
        <p:nvSpPr>
          <p:cNvPr id="67" name="Rectangle 66"/>
          <p:cNvSpPr/>
          <p:nvPr/>
        </p:nvSpPr>
        <p:spPr>
          <a:xfrm>
            <a:off x="0" y="6556248"/>
            <a:ext cx="12188952" cy="3017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82880" y="6565392"/>
            <a:ext cx="1179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7D2FE"/>
                </a:solidFill>
              </a:rPr>
              <a:t>Agentic Multi-Hop RAG  ·  Alissa Jouljian  ·  NLP Course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7899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82296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Per-Question Head-to-Head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9224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7D2FE"/>
                </a:solidFill>
              </a:rPr>
              <a:t>Agentic wins 25/30 on answer relevance — consistent improvement, not driven by outliers</a:t>
            </a:r>
          </a:p>
        </p:txBody>
      </p:sp>
      <p:pic>
        <p:nvPicPr>
          <p:cNvPr id="5" name="Picture 4" descr="error_breakdow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133856"/>
            <a:ext cx="11731752" cy="404656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56032" y="5870448"/>
            <a:ext cx="3767328" cy="804672"/>
          </a:xfrm>
          <a:prstGeom prst="rect">
            <a:avLst/>
          </a:prstGeom>
          <a:solidFill>
            <a:srgbClr val="EEF2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7472" y="5916168"/>
            <a:ext cx="35661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1B4B"/>
                </a:solidFill>
              </a:rPr>
              <a:t>Win/Tie/Loss per metric.
Agentic (green) wins Answer Relevance
on 25 of 30 questions.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242816" y="5870448"/>
            <a:ext cx="3767328" cy="804672"/>
          </a:xfrm>
          <a:prstGeom prst="rect">
            <a:avLst/>
          </a:prstGeom>
          <a:solidFill>
            <a:srgbClr val="EEF2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34256" y="5916168"/>
            <a:ext cx="35661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1B4B"/>
                </a:solidFill>
              </a:rPr>
              <a:t>Per-question scatter.
Dots above diagonal = Agentic wins.
Clear cluster above the line.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0" y="5870448"/>
            <a:ext cx="3767328" cy="804672"/>
          </a:xfrm>
          <a:prstGeom prst="rect">
            <a:avLst/>
          </a:prstGeom>
          <a:solidFill>
            <a:srgbClr val="EEF2FF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5916168"/>
            <a:ext cx="35661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1B4B"/>
                </a:solidFill>
              </a:rPr>
              <a:t>Average quality delta.
All bars green → Agentic better
on every single metric measured.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56248"/>
            <a:ext cx="12188952" cy="3017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2880" y="6565392"/>
            <a:ext cx="1179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7D2FE"/>
                </a:solidFill>
              </a:rPr>
              <a:t>Agentic Multi-Hop RAG  ·  Alissa Jouljian  ·  NLP Course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7899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82296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Accuracy &amp; Groundedness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9224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7D2FE"/>
                </a:solidFill>
              </a:rPr>
              <a:t>Agentic RAG leads on every quality metric — verification loop reduces hallucinations</a:t>
            </a:r>
          </a:p>
        </p:txBody>
      </p:sp>
      <p:pic>
        <p:nvPicPr>
          <p:cNvPr id="5" name="Picture 4" descr="accuracy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133856"/>
            <a:ext cx="5897880" cy="3368859"/>
          </a:xfrm>
          <a:prstGeom prst="rect">
            <a:avLst/>
          </a:prstGeom>
        </p:spPr>
      </p:pic>
      <p:pic>
        <p:nvPicPr>
          <p:cNvPr id="6" name="Picture 5" descr="groundedness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133856"/>
            <a:ext cx="5669280" cy="3700409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228600" y="5138928"/>
            <a:ext cx="5897880" cy="1463040"/>
          </a:xfrm>
          <a:prstGeom prst="rect">
            <a:avLst/>
          </a:prstGeom>
          <a:solidFill>
            <a:srgbClr val="EEF2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184648"/>
            <a:ext cx="5577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366F1"/>
                </a:solidFill>
              </a:rPr>
              <a:t>📊  Accuracy Comparison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5550408"/>
            <a:ext cx="5577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500"/>
              </a:spcBef>
            </a:pPr>
            <a:r>
              <a:rPr sz="1100" b="0" i="0">
                <a:solidFill>
                  <a:srgbClr val="1E1B4B"/>
                </a:solidFill>
              </a:rPr>
              <a:t>• Agentic (purple) leads on Token F1, ROUGE-L and Answer Relevance</a:t>
            </a:r>
          </a:p>
          <a:p>
            <a:pPr algn="l">
              <a:spcBef>
                <a:spcPts val="500"/>
              </a:spcBef>
            </a:pPr>
            <a:r>
              <a:rPr sz="1100" b="0" i="0">
                <a:solidFill>
                  <a:srgbClr val="1E1B4B"/>
                </a:solidFill>
              </a:rPr>
              <a:t>• Exact Match = 0 for both — corpus too small to retrieve gold docs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5138928"/>
            <a:ext cx="5669280" cy="1463040"/>
          </a:xfrm>
          <a:prstGeom prst="rect">
            <a:avLst/>
          </a:prstGeom>
          <a:solidFill>
            <a:srgbClr val="EEF2FF"/>
          </a:solidFill>
          <a:ln w="254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5184648"/>
            <a:ext cx="5394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6A34A"/>
                </a:solidFill>
              </a:rPr>
              <a:t>📈  Groundedness Distribution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5550408"/>
            <a:ext cx="5394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500"/>
              </a:spcBef>
            </a:pPr>
            <a:r>
              <a:rPr sz="1100" b="0" i="0">
                <a:solidFill>
                  <a:srgbClr val="1E1B4B"/>
                </a:solidFill>
              </a:rPr>
              <a:t>• Static RAG (red) concentrates near 0 — answers largely unsupported</a:t>
            </a:r>
          </a:p>
          <a:p>
            <a:pPr algn="l">
              <a:spcBef>
                <a:spcPts val="500"/>
              </a:spcBef>
            </a:pPr>
            <a:r>
              <a:rPr sz="1100" b="0" i="0">
                <a:solidFill>
                  <a:srgbClr val="1E1B4B"/>
                </a:solidFill>
              </a:rPr>
              <a:t>• Agentic RAG (purple) spreads 0.3–0.8 — verification filters bad claims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56248"/>
            <a:ext cx="12188952" cy="3017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2880" y="6565392"/>
            <a:ext cx="1179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7D2FE"/>
                </a:solidFill>
              </a:rPr>
              <a:t>Agentic Multi-Hop RAG  ·  Alissa Jouljian  ·  NLP Course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7899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82296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Budget vs Accuracy  &amp;  Complexity Breakdown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9224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7D2FE"/>
                </a:solidFill>
              </a:rPr>
              <a:t>More LLM calls = better answers · Medium questions benefit most from the agentic loop</a:t>
            </a:r>
          </a:p>
        </p:txBody>
      </p:sp>
      <p:pic>
        <p:nvPicPr>
          <p:cNvPr id="5" name="Picture 4" descr="budget_vs_accura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133856"/>
            <a:ext cx="5897880" cy="3778329"/>
          </a:xfrm>
          <a:prstGeom prst="rect">
            <a:avLst/>
          </a:prstGeom>
        </p:spPr>
      </p:pic>
      <p:pic>
        <p:nvPicPr>
          <p:cNvPr id="6" name="Picture 5" descr="complexity_breakdow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133856"/>
            <a:ext cx="5669280" cy="388552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228600" y="5138928"/>
            <a:ext cx="5897880" cy="1463040"/>
          </a:xfrm>
          <a:prstGeom prst="rect">
            <a:avLst/>
          </a:prstGeom>
          <a:solidFill>
            <a:srgbClr val="EEF2FF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184648"/>
            <a:ext cx="5577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</a:rPr>
              <a:t>⚡  Budget vs Accuracy (Agentic Only)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5550408"/>
            <a:ext cx="55778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500"/>
              </a:spcBef>
            </a:pPr>
            <a:r>
              <a:rPr sz="1100" b="0" i="0">
                <a:solidFill>
                  <a:srgbClr val="16A34A"/>
                </a:solidFill>
              </a:rPr>
              <a:t>• Positive slope: more calls → higher Token F1</a:t>
            </a:r>
          </a:p>
          <a:p>
            <a:pPr algn="l">
              <a:spcBef>
                <a:spcPts val="500"/>
              </a:spcBef>
            </a:pPr>
            <a:r>
              <a:rPr sz="1100" b="0" i="0">
                <a:solidFill>
                  <a:srgbClr val="F43F5E"/>
                </a:solidFill>
              </a:rPr>
              <a:t>• Hard (red) exhaust budget before finding gold documents</a:t>
            </a:r>
          </a:p>
          <a:p>
            <a:pPr algn="l">
              <a:spcBef>
                <a:spcPts val="500"/>
              </a:spcBef>
            </a:pPr>
            <a:r>
              <a:rPr sz="1100" b="0" i="0">
                <a:solidFill>
                  <a:srgbClr val="F59E0B"/>
                </a:solidFill>
              </a:rPr>
              <a:t>• Medium (amber) show clearest agentic gain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5138928"/>
            <a:ext cx="5669280" cy="1463040"/>
          </a:xfrm>
          <a:prstGeom prst="rect">
            <a:avLst/>
          </a:prstGeom>
          <a:solidFill>
            <a:srgbClr val="EEF2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5184648"/>
            <a:ext cx="5394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366F1"/>
                </a:solidFill>
              </a:rPr>
              <a:t>🎯  Complexity-Stratified F1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5550408"/>
            <a:ext cx="53949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500"/>
              </a:spcBef>
            </a:pPr>
            <a:r>
              <a:rPr sz="1100" b="0" i="0">
                <a:solidFill>
                  <a:srgbClr val="16A34A"/>
                </a:solidFill>
              </a:rPr>
              <a:t>• Agentic beats Static in both complexity categories</a:t>
            </a:r>
          </a:p>
          <a:p>
            <a:pPr algn="l">
              <a:spcBef>
                <a:spcPts val="500"/>
              </a:spcBef>
            </a:pPr>
            <a:r>
              <a:rPr sz="1100" b="0" i="0">
                <a:solidFill>
                  <a:srgbClr val="6366F1"/>
                </a:solidFill>
              </a:rPr>
              <a:t>• Medium: F1=0.043 vs 0.012 (static) — biggest gain</a:t>
            </a:r>
          </a:p>
          <a:p>
            <a:pPr algn="l">
              <a:spcBef>
                <a:spcPts val="500"/>
              </a:spcBef>
            </a:pPr>
            <a:r>
              <a:rPr sz="1100" b="0" i="0">
                <a:solidFill>
                  <a:srgbClr val="F43F5E"/>
                </a:solidFill>
              </a:rPr>
              <a:t>• Hard: retrieval bottleneck limits both systems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56248"/>
            <a:ext cx="12188952" cy="3017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2880" y="6565392"/>
            <a:ext cx="1179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7D2FE"/>
                </a:solidFill>
              </a:rPr>
              <a:t>Agentic Multi-Hop RAG  ·  Alissa Jouljian  ·  NLP Course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7899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82296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Error Analysis: The Retrieval Bottleneck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9224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7D2FE"/>
                </a:solidFill>
              </a:rPr>
              <a:t>Root cause is corpus coverage (5K chunks vs 5.2M Wikipedia articles) — not algorithm quality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256032" y="1170432"/>
            <a:ext cx="11658600" cy="987552"/>
          </a:xfrm>
          <a:prstGeom prst="rect">
            <a:avLst/>
          </a:prstGeom>
          <a:solidFill>
            <a:srgbClr val="FFF1F2"/>
          </a:solidFill>
          <a:ln w="254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0624" y="1225296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43F5E"/>
                </a:solidFill>
              </a:rPr>
              <a:t>⚠️  Retrieval Recall = 1.7%  —  Both systems: 'retrieval failure' on 29/30 questions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" y="1609344"/>
            <a:ext cx="11247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1B4B"/>
                </a:solidFill>
              </a:rPr>
              <a:t>This does NOT mean equal quality — quality metrics still show clear agentic improvement (+161% relevance)</a:t>
            </a:r>
          </a:p>
        </p:txBody>
      </p:sp>
      <p:sp>
        <p:nvSpPr>
          <p:cNvPr id="8" name="Rectangle 7"/>
          <p:cNvSpPr/>
          <p:nvPr/>
        </p:nvSpPr>
        <p:spPr>
          <a:xfrm>
            <a:off x="256032" y="2304288"/>
            <a:ext cx="3813048" cy="3931920"/>
          </a:xfrm>
          <a:prstGeom prst="rect">
            <a:avLst/>
          </a:prstGeom>
          <a:solidFill>
            <a:srgbClr val="FFFFFF"/>
          </a:solidFill>
          <a:ln w="254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56032" y="2304288"/>
            <a:ext cx="3813048" cy="402336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2331720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Why recall is so 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2798064"/>
            <a:ext cx="3566160" cy="3255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1B4B"/>
                </a:solidFill>
              </a:rPr>
              <a:t>• 5,064 chunks from ~500 articles
• HotpotQA draws from 5.2M articles
• Prob. of having BOTH gold articles: ~1.7%
• Algorithm is correct — coverage is not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51960" y="2304288"/>
            <a:ext cx="3813048" cy="3931920"/>
          </a:xfrm>
          <a:prstGeom prst="rect">
            <a:avLst/>
          </a:prstGeom>
          <a:solidFill>
            <a:srgbClr val="FFFFFF"/>
          </a:solidFill>
          <a:ln w="254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51960" y="2304288"/>
            <a:ext cx="3813048" cy="402336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61688" y="2331720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What the agent still achieves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79976" y="2798064"/>
            <a:ext cx="3566160" cy="3255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1B4B"/>
                </a:solidFill>
              </a:rPr>
              <a:t>• Sub-question retrieval → more focused
  than one compound query
• Query rewriting narrows the search
• Verification filters hallucinated claims
• Relevance +161% despite missing docs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47888" y="2304288"/>
            <a:ext cx="3813048" cy="3931920"/>
          </a:xfrm>
          <a:prstGeom prst="rect">
            <a:avLst/>
          </a:prstGeom>
          <a:solidFill>
            <a:srgbClr val="FFFF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47888" y="2304288"/>
            <a:ext cx="3813048" cy="40233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57615" y="2331720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The simple fix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75904" y="2798064"/>
            <a:ext cx="3566160" cy="3255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1B4B"/>
                </a:solidFill>
              </a:rPr>
              <a:t>• Index full HotpotQA distractor corpus
  (500K+ paragraphs, not just 5K)
• Expected retrieval recall: &gt;60%
• EM and F1 would jump dramatically
• Architecture is already correct &amp; ready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6032" y="6400800"/>
            <a:ext cx="11658600" cy="347472"/>
          </a:xfrm>
          <a:prstGeom prst="rect">
            <a:avLst/>
          </a:prstGeom>
          <a:solidFill>
            <a:srgbClr val="EEF2FF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02336" y="6437376"/>
            <a:ext cx="11338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366F1"/>
                </a:solidFill>
              </a:rPr>
              <a:t>💡  +161% Answer Relevance and −15% Hallucination Rate even at 1.7% recall — scale the corpus and every metric improves dramatically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56248"/>
            <a:ext cx="12188952" cy="3017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82880" y="6565392"/>
            <a:ext cx="1179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7D2FE"/>
                </a:solidFill>
              </a:rPr>
              <a:t>Agentic Multi-Hop RAG  ·  Alissa Jouljian  ·  NLP Course 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7899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82296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Three Ways to Interact with the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9224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7D2FE"/>
                </a:solidFill>
              </a:rPr>
              <a:t>Streamlit Chat UI  ·  Gradio Web UI  ·  Rich Interactive CLI — all fully implemented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170432"/>
            <a:ext cx="3840480" cy="5230368"/>
          </a:xfrm>
          <a:prstGeom prst="rect">
            <a:avLst/>
          </a:prstGeom>
          <a:solidFill>
            <a:srgbClr val="ECFDF5"/>
          </a:solidFill>
          <a:ln w="254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1170432"/>
            <a:ext cx="3840480" cy="43891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207008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🖥️  Streamlit Chat UI</a:t>
            </a:r>
          </a:p>
        </p:txBody>
      </p:sp>
      <p:sp>
        <p:nvSpPr>
          <p:cNvPr id="8" name="Rectangle 7"/>
          <p:cNvSpPr/>
          <p:nvPr/>
        </p:nvSpPr>
        <p:spPr>
          <a:xfrm>
            <a:off x="3154680" y="1216152"/>
            <a:ext cx="82296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72968" y="1234440"/>
            <a:ext cx="777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F766E"/>
                </a:solidFill>
              </a:rPr>
              <a:t>port 8501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" y="1700784"/>
            <a:ext cx="359359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500"/>
              </a:spcBef>
            </a:pPr>
            <a:r>
              <a:rPr sz="1100" b="0" i="0">
                <a:solidFill>
                  <a:srgbClr val="1E1B4B"/>
                </a:solidFill>
              </a:rPr>
              <a:t>• Full conversation history with scroll</a:t>
            </a:r>
          </a:p>
          <a:p>
            <a:pPr algn="l">
              <a:spcBef>
                <a:spcPts val="500"/>
              </a:spcBef>
            </a:pPr>
            <a:r>
              <a:rPr sz="1100" b="1" i="0">
                <a:solidFill>
                  <a:srgbClr val="0F766E"/>
                </a:solidFill>
              </a:rPr>
              <a:t>• Live mode toggle — Agentic ↔ Static</a:t>
            </a:r>
          </a:p>
          <a:p>
            <a:pPr algn="l">
              <a:spcBef>
                <a:spcPts val="500"/>
              </a:spcBef>
            </a:pPr>
            <a:r>
              <a:rPr sz="1100" b="0" i="0">
                <a:solidFill>
                  <a:srgbClr val="1E1B4B"/>
                </a:solidFill>
              </a:rPr>
              <a:t>• Agent Thought Trace per reply:</a:t>
            </a:r>
          </a:p>
          <a:p>
            <a:pPr algn="l">
              <a:spcBef>
                <a:spcPts val="500"/>
              </a:spcBef>
            </a:pPr>
            <a:r>
              <a:rPr sz="1000" b="0" i="0">
                <a:solidFill>
                  <a:srgbClr val="1E1B4B"/>
                </a:solidFill>
              </a:rPr>
              <a:t>   Sub-questions decomposed</a:t>
            </a:r>
          </a:p>
          <a:p>
            <a:pPr algn="l">
              <a:spcBef>
                <a:spcPts val="500"/>
              </a:spcBef>
            </a:pPr>
            <a:r>
              <a:rPr sz="1000" b="0" i="0">
                <a:solidFill>
                  <a:srgbClr val="1E1B4B"/>
                </a:solidFill>
              </a:rPr>
              <a:t>   LLM call count &amp; elapsed time</a:t>
            </a:r>
          </a:p>
          <a:p>
            <a:pPr algn="l">
              <a:spcBef>
                <a:spcPts val="500"/>
              </a:spcBef>
            </a:pPr>
            <a:r>
              <a:rPr sz="1000" b="0" i="0">
                <a:solidFill>
                  <a:srgbClr val="1E1B4B"/>
                </a:solidFill>
              </a:rPr>
              <a:t>   Verification confidence score</a:t>
            </a:r>
          </a:p>
          <a:p>
            <a:pPr algn="l">
              <a:spcBef>
                <a:spcPts val="500"/>
              </a:spcBef>
            </a:pPr>
            <a:r>
              <a:rPr sz="1000" b="0" i="0">
                <a:solidFill>
                  <a:srgbClr val="1E1B4B"/>
                </a:solidFill>
              </a:rPr>
              <a:t>   Unsupported claims listed</a:t>
            </a:r>
          </a:p>
          <a:p>
            <a:pPr algn="l">
              <a:spcBef>
                <a:spcPts val="500"/>
              </a:spcBef>
            </a:pPr>
            <a:r>
              <a:rPr sz="1100" b="0" i="0">
                <a:solidFill>
                  <a:srgbClr val="1E1B4B"/>
                </a:solidFill>
              </a:rPr>
              <a:t>• Clear History button</a:t>
            </a:r>
          </a:p>
          <a:p>
            <a:pPr algn="l">
              <a:spcBef>
                <a:spcPts val="500"/>
              </a:spcBef>
            </a:pPr>
            <a:r>
              <a:rPr sz="1100" b="0" i="0">
                <a:solidFill>
                  <a:srgbClr val="1E1B4B"/>
                </a:solidFill>
              </a:rPr>
              <a:t>• Runs fully locally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4956048"/>
            <a:ext cx="3749039" cy="411480"/>
          </a:xfrm>
          <a:prstGeom prst="rect">
            <a:avLst/>
          </a:prstGeom>
          <a:solidFill>
            <a:srgbClr val="1E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0624" y="5001768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8F0A0"/>
                </a:solidFill>
              </a:rPr>
              <a:t>python main.py streamlit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5367528"/>
            <a:ext cx="3749039" cy="347472"/>
          </a:xfrm>
          <a:prstGeom prst="rect">
            <a:avLst/>
          </a:prstGeom>
          <a:solidFill>
            <a:srgbClr val="EEF2FF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2336" y="5413248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766E"/>
                </a:solidFill>
              </a:rPr>
              <a:t>→  http://localhost:8501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51960" y="1170432"/>
            <a:ext cx="3840480" cy="5230368"/>
          </a:xfrm>
          <a:prstGeom prst="rect">
            <a:avLst/>
          </a:prstGeom>
          <a:solidFill>
            <a:srgbClr val="FFF7ED"/>
          </a:solidFill>
          <a:ln w="254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51960" y="1170432"/>
            <a:ext cx="3840480" cy="43891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0" y="1207008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🌐  Gradio Web UI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159752" y="1216152"/>
            <a:ext cx="82296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78040" y="1234440"/>
            <a:ext cx="777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EA580C"/>
                </a:solidFill>
              </a:rPr>
              <a:t>port 7860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0832" y="1700784"/>
            <a:ext cx="359359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500"/>
              </a:spcBef>
            </a:pPr>
            <a:r>
              <a:rPr sz="1100" b="1" i="0">
                <a:solidFill>
                  <a:srgbClr val="EA580C"/>
                </a:solidFill>
              </a:rPr>
              <a:t>• Radio toggle: Agentic vs Static mode</a:t>
            </a:r>
          </a:p>
          <a:p>
            <a:pPr algn="l">
              <a:spcBef>
                <a:spcPts val="500"/>
              </a:spcBef>
            </a:pPr>
            <a:r>
              <a:rPr sz="1100" b="0" i="0">
                <a:solidFill>
                  <a:srgbClr val="1E1B4B"/>
                </a:solidFill>
              </a:rPr>
              <a:t>• Answer panel + confidence score</a:t>
            </a:r>
          </a:p>
          <a:p>
            <a:pPr algn="l">
              <a:spcBef>
                <a:spcPts val="500"/>
              </a:spcBef>
            </a:pPr>
            <a:r>
              <a:rPr sz="1100" b="0" i="0">
                <a:solidFill>
                  <a:srgbClr val="1E1B4B"/>
                </a:solidFill>
              </a:rPr>
              <a:t>• Collapsible agent trace:</a:t>
            </a:r>
          </a:p>
          <a:p>
            <a:pPr algn="l">
              <a:spcBef>
                <a:spcPts val="500"/>
              </a:spcBef>
            </a:pPr>
            <a:r>
              <a:rPr sz="1000" b="0" i="0">
                <a:solidFill>
                  <a:srgbClr val="1E1B4B"/>
                </a:solidFill>
              </a:rPr>
              <a:t>   Iteration-by-iteration details</a:t>
            </a:r>
          </a:p>
          <a:p>
            <a:pPr algn="l">
              <a:spcBef>
                <a:spcPts val="500"/>
              </a:spcBef>
            </a:pPr>
            <a:r>
              <a:rPr sz="1000" b="0" i="0">
                <a:solidFill>
                  <a:srgbClr val="1E1B4B"/>
                </a:solidFill>
              </a:rPr>
              <a:t>   Verification confidence</a:t>
            </a:r>
          </a:p>
          <a:p>
            <a:pPr algn="l">
              <a:spcBef>
                <a:spcPts val="500"/>
              </a:spcBef>
            </a:pPr>
            <a:r>
              <a:rPr sz="1000" b="0" i="0">
                <a:solidFill>
                  <a:srgbClr val="1E1B4B"/>
                </a:solidFill>
              </a:rPr>
              <a:t>   All retrieved passages</a:t>
            </a:r>
          </a:p>
          <a:p>
            <a:pPr algn="l">
              <a:spcBef>
                <a:spcPts val="500"/>
              </a:spcBef>
            </a:pPr>
            <a:r>
              <a:rPr sz="1100" b="0" i="0">
                <a:solidFill>
                  <a:srgbClr val="1E1B4B"/>
                </a:solidFill>
              </a:rPr>
              <a:t>• 4 built-in example multi-hop Qs</a:t>
            </a:r>
          </a:p>
          <a:p>
            <a:pPr algn="l">
              <a:spcBef>
                <a:spcPts val="500"/>
              </a:spcBef>
            </a:pPr>
            <a:r>
              <a:rPr sz="1100" b="0" i="0">
                <a:solidFill>
                  <a:srgbClr val="1E1B4B"/>
                </a:solidFill>
              </a:rPr>
              <a:t>• Public share link (--share flag)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97680" y="4956048"/>
            <a:ext cx="3749039" cy="411480"/>
          </a:xfrm>
          <a:prstGeom prst="rect">
            <a:avLst/>
          </a:prstGeom>
          <a:solidFill>
            <a:srgbClr val="1E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43984" y="5001768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8F0A0"/>
                </a:solidFill>
              </a:rPr>
              <a:t>python main.py serve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97680" y="5367528"/>
            <a:ext cx="3749039" cy="347472"/>
          </a:xfrm>
          <a:prstGeom prst="rect">
            <a:avLst/>
          </a:prstGeom>
          <a:solidFill>
            <a:srgbClr val="EEF2FF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25696" y="5413248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A580C"/>
                </a:solidFill>
              </a:rPr>
              <a:t>→  http://localhost:7860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75320" y="1170432"/>
            <a:ext cx="3657600" cy="5230368"/>
          </a:xfrm>
          <a:prstGeom prst="rect">
            <a:avLst/>
          </a:prstGeom>
          <a:solidFill>
            <a:srgbClr val="1E1B2E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75320" y="1170432"/>
            <a:ext cx="3657600" cy="43891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80" y="1207008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💻  Rich Interactive CLI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927080" y="1216152"/>
            <a:ext cx="914400" cy="292608"/>
          </a:xfrm>
          <a:prstGeom prst="rect">
            <a:avLst/>
          </a:prstGeom>
          <a:solidFill>
            <a:srgbClr val="2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945368" y="1234440"/>
            <a:ext cx="868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C7D2FE"/>
                </a:solidFill>
              </a:rPr>
              <a:t>terminal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94192" y="1700784"/>
            <a:ext cx="341071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500"/>
              </a:spcBef>
            </a:pPr>
            <a:r>
              <a:rPr sz="1100" b="0" i="0">
                <a:solidFill>
                  <a:srgbClr val="F8F0A0"/>
                </a:solidFill>
              </a:rPr>
              <a:t>• Colour-coded terminal interface</a:t>
            </a:r>
          </a:p>
          <a:p>
            <a:pPr algn="l">
              <a:spcBef>
                <a:spcPts val="500"/>
              </a:spcBef>
            </a:pPr>
            <a:r>
              <a:rPr sz="1100" b="0" i="0">
                <a:solidFill>
                  <a:srgbClr val="C7D2FE"/>
                </a:solidFill>
              </a:rPr>
              <a:t>• Retrieval table per iteration</a:t>
            </a:r>
          </a:p>
          <a:p>
            <a:pPr algn="l">
              <a:spcBef>
                <a:spcPts val="500"/>
              </a:spcBef>
            </a:pPr>
            <a:r>
              <a:rPr sz="1100" b="0" i="0">
                <a:solidFill>
                  <a:srgbClr val="C7D2FE"/>
                </a:solidFill>
              </a:rPr>
              <a:t>• Verification panel + claim list</a:t>
            </a:r>
          </a:p>
          <a:p>
            <a:pPr algn="l">
              <a:spcBef>
                <a:spcPts val="500"/>
              </a:spcBef>
            </a:pPr>
            <a:r>
              <a:rPr sz="1100" b="0" i="0">
                <a:solidFill>
                  <a:srgbClr val="C7D2FE"/>
                </a:solidFill>
              </a:rPr>
              <a:t>• Token stats after each answer</a:t>
            </a:r>
          </a:p>
          <a:p>
            <a:pPr algn="l">
              <a:spcBef>
                <a:spcPts val="500"/>
              </a:spcBef>
            </a:pPr>
            <a:r>
              <a:rPr sz="1100" b="0" i="0">
                <a:solidFill>
                  <a:srgbClr val="6BD6A0"/>
                </a:solidFill>
              </a:rPr>
              <a:t>• Switch modes mid-session:</a:t>
            </a:r>
          </a:p>
          <a:p>
            <a:pPr algn="l">
              <a:spcBef>
                <a:spcPts val="500"/>
              </a:spcBef>
            </a:pPr>
            <a:r>
              <a:rPr sz="1000" b="0" i="0">
                <a:solidFill>
                  <a:srgbClr val="6BD6A0"/>
                </a:solidFill>
              </a:rPr>
              <a:t>   mode agentic</a:t>
            </a:r>
          </a:p>
          <a:p>
            <a:pPr algn="l">
              <a:spcBef>
                <a:spcPts val="500"/>
              </a:spcBef>
            </a:pPr>
            <a:r>
              <a:rPr sz="1000" b="0" i="0">
                <a:solidFill>
                  <a:srgbClr val="6BD6A0"/>
                </a:solidFill>
              </a:rPr>
              <a:t>   mode static</a:t>
            </a:r>
          </a:p>
          <a:p>
            <a:pPr algn="l">
              <a:spcBef>
                <a:spcPts val="500"/>
              </a:spcBef>
            </a:pPr>
            <a:r>
              <a:rPr sz="1100" b="0" i="0">
                <a:solidFill>
                  <a:srgbClr val="C7D2FE"/>
                </a:solidFill>
              </a:rPr>
              <a:t>• No browser — runs anywhere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321040" y="4956048"/>
            <a:ext cx="3566160" cy="411480"/>
          </a:xfrm>
          <a:prstGeom prst="rect">
            <a:avLst/>
          </a:prstGeom>
          <a:solidFill>
            <a:srgbClr val="0D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67344" y="500176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8F0A0"/>
                </a:solidFill>
              </a:rPr>
              <a:t>python main.py chat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321040" y="5367528"/>
            <a:ext cx="3566160" cy="347472"/>
          </a:xfrm>
          <a:prstGeom prst="rect">
            <a:avLst/>
          </a:prstGeom>
          <a:solidFill>
            <a:srgbClr val="2D2B55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49056" y="5413248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7D2FE"/>
                </a:solidFill>
              </a:rPr>
              <a:t>→  Interactive terminal session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556248"/>
            <a:ext cx="12188952" cy="3017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82880" y="6565392"/>
            <a:ext cx="1179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7D2FE"/>
                </a:solidFill>
              </a:rPr>
              <a:t>Agentic Multi-Hop RAG  ·  Alissa Jouljian  ·  NLP Course 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7899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82296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Limitations &amp; 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9224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7D2FE"/>
                </a:solidFill>
              </a:rPr>
              <a:t>Honest analysis of current gaps — and exactly what to fix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" y="1170432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43F5E"/>
                </a:solidFill>
              </a:rPr>
              <a:t>⚠️  Current Limitations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36208" y="1170432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6A34A"/>
                </a:solidFill>
              </a:rPr>
              <a:t>🚀  Future Work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" y="1536192"/>
            <a:ext cx="27432" cy="493776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08776" y="1536192"/>
            <a:ext cx="27432" cy="493776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591056"/>
            <a:ext cx="580644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645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43F5E"/>
                </a:solidFill>
              </a:rPr>
              <a:t>Small Corpus (5K chunks)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938528"/>
            <a:ext cx="54864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B4B"/>
                </a:solidFill>
              </a:rPr>
              <a:t>Missing gold docs is the dominant failure.
Needs 500K+ paragraphs indexed.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569464"/>
            <a:ext cx="580644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6243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</a:rPr>
              <a:t>LLM-Based Reranker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916936"/>
            <a:ext cx="54864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B4B"/>
                </a:solidFill>
              </a:rPr>
              <a:t>Cross-encoder fell back to GPT;
local ms-marco model would be 10× cheaper.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3547872"/>
            <a:ext cx="580644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602736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</a:rPr>
              <a:t>High Latency (26 s avg)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895344"/>
            <a:ext cx="54864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B4B"/>
                </a:solidFill>
              </a:rPr>
              <a:t>Multi-step sequential loop not production-
ready without sub-question parallelism.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4526280"/>
            <a:ext cx="580644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58114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43F5E"/>
                </a:solidFill>
              </a:rPr>
              <a:t>Verification Cost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873752"/>
            <a:ext cx="54864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B4B"/>
                </a:solidFill>
              </a:rPr>
              <a:t>Claim-level LLM checking uses most budget;
DeBERTa-MNLI would be faster.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5504688"/>
            <a:ext cx="580644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555955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</a:rPr>
              <a:t>Paragraph-Level Chunking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852160"/>
            <a:ext cx="54864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B4B"/>
                </a:solidFill>
              </a:rPr>
              <a:t>HotpotQA has sentence-level annotations;
coarser chunks miss fine-grained signals.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81928" y="1591056"/>
            <a:ext cx="5650992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19088" y="164592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6A34A"/>
                </a:solidFill>
              </a:rPr>
              <a:t>→  Scale the Corpus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19088" y="1938528"/>
            <a:ext cx="53949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B4B"/>
                </a:solidFill>
              </a:rPr>
              <a:t>Index full HotpotQA distractor set
(~500K paragraphs) → recall &gt;60%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81928" y="2569464"/>
            <a:ext cx="5650992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19088" y="2624328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6A34A"/>
                </a:solidFill>
              </a:rPr>
              <a:t>→  Local Cross-Encoder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19088" y="2916936"/>
            <a:ext cx="53949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B4B"/>
                </a:solidFill>
              </a:rPr>
              <a:t>ms-marco-MiniLM-L-6-v2 for fast,
cheap, reproducible re-ranking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81928" y="3547872"/>
            <a:ext cx="5650992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19088" y="3602736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6A34A"/>
                </a:solidFill>
              </a:rPr>
              <a:t>→  NLI Verifier (DeBERTa)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19088" y="3895344"/>
            <a:ext cx="53949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B4B"/>
                </a:solidFill>
              </a:rPr>
              <a:t>Replace LLM claim-checking with
DeBERTa-MNLI — faster + reproducible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81928" y="4526280"/>
            <a:ext cx="5650992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19088" y="4581144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6A34A"/>
                </a:solidFill>
              </a:rPr>
              <a:t>→  Parallel Retrieval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19088" y="4873752"/>
            <a:ext cx="53949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B4B"/>
                </a:solidFill>
              </a:rPr>
              <a:t>Retrieve all sub-questions concurrently
→ 3–4× latency reduction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81928" y="5504688"/>
            <a:ext cx="5650992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19088" y="5559552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6A34A"/>
                </a:solidFill>
              </a:rPr>
              <a:t>→  Sentence-Level Chunking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19088" y="5852160"/>
            <a:ext cx="53949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B4B"/>
                </a:solidFill>
              </a:rPr>
              <a:t>Exploit HotpotQA supporting-fact
sentence annotations for finer retrieval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556248"/>
            <a:ext cx="12188952" cy="3017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82880" y="6565392"/>
            <a:ext cx="1179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7D2FE"/>
                </a:solidFill>
              </a:rPr>
              <a:t>Agentic Multi-Hop RAG  ·  Alissa Jouljian  ·  NLP Course 2026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5603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69264"/>
            <a:ext cx="5029200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133856"/>
            <a:ext cx="11475720" cy="768096"/>
          </a:xfrm>
          <a:prstGeom prst="rect">
            <a:avLst/>
          </a:prstGeom>
          <a:solidFill>
            <a:srgbClr val="2D2B55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11155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🏗️  What We Built:  Agentic Multi-Hop RAG — hybrid indexing, query decomposition, iterative retrieval,
         claim-level self-verification, dynamic budgeting  ·  3 interfaces (Streamlit, Gradio, CLI)  ·  All 9 stretch goals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066543"/>
            <a:ext cx="3657600" cy="1572768"/>
          </a:xfrm>
          <a:prstGeom prst="rect">
            <a:avLst/>
          </a:prstGeom>
          <a:solidFill>
            <a:srgbClr val="2D2B55"/>
          </a:solidFill>
          <a:ln w="254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157984"/>
            <a:ext cx="33832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16A34A"/>
                </a:solidFill>
              </a:rPr>
              <a:t>+161%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852927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Answer Relevance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218687"/>
            <a:ext cx="3383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6B7280"/>
                </a:solidFill>
              </a:rPr>
              <a:t>0.160 → 0.417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6240" y="2066543"/>
            <a:ext cx="3657600" cy="1572768"/>
          </a:xfrm>
          <a:prstGeom prst="rect">
            <a:avLst/>
          </a:prstGeom>
          <a:solidFill>
            <a:srgbClr val="2D2B55"/>
          </a:solidFill>
          <a:ln w="254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43400" y="2157984"/>
            <a:ext cx="33832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16A34A"/>
                </a:solidFill>
              </a:rPr>
              <a:t>+128%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2852927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Token F1 &amp; ROUGE-L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3218687"/>
            <a:ext cx="3383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6B7280"/>
                </a:solidFill>
              </a:rPr>
              <a:t>0.014 → 0.032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0" y="2066543"/>
            <a:ext cx="3657600" cy="1572768"/>
          </a:xfrm>
          <a:prstGeom prst="rect">
            <a:avLst/>
          </a:prstGeom>
          <a:solidFill>
            <a:srgbClr val="2D2B55"/>
          </a:solidFill>
          <a:ln w="254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83880" y="2157984"/>
            <a:ext cx="33832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34D399"/>
                </a:solidFill>
              </a:rPr>
              <a:t>+54%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80" y="2852927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Groundedness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80" y="3218687"/>
            <a:ext cx="3383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6B7280"/>
                </a:solidFill>
              </a:rPr>
              <a:t>0.222 → 0.342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767328"/>
            <a:ext cx="3657600" cy="1572768"/>
          </a:xfrm>
          <a:prstGeom prst="rect">
            <a:avLst/>
          </a:prstGeom>
          <a:solidFill>
            <a:srgbClr val="2D2B55"/>
          </a:solidFill>
          <a:ln w="254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3858768"/>
            <a:ext cx="33832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34D399"/>
                </a:solidFill>
              </a:rPr>
              <a:t>−15%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553712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Hallucination Rate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919472"/>
            <a:ext cx="3383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6B7280"/>
                </a:solidFill>
              </a:rPr>
              <a:t>0.778 → 0.658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06240" y="3767328"/>
            <a:ext cx="3657600" cy="1572768"/>
          </a:xfrm>
          <a:prstGeom prst="rect">
            <a:avLst/>
          </a:prstGeom>
          <a:solidFill>
            <a:srgbClr val="2D2B55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43400" y="3858768"/>
            <a:ext cx="33832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6366F1"/>
                </a:solidFill>
              </a:rPr>
              <a:t>25/30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43400" y="4553712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Questions Won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43400" y="4919472"/>
            <a:ext cx="3383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6B7280"/>
                </a:solidFill>
              </a:rPr>
              <a:t>Answer Relevance head-to-head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46720" y="3767328"/>
            <a:ext cx="3657600" cy="1572768"/>
          </a:xfrm>
          <a:prstGeom prst="rect">
            <a:avLst/>
          </a:prstGeom>
          <a:solidFill>
            <a:srgbClr val="2D2B55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83880" y="3858768"/>
            <a:ext cx="33832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59E0B"/>
                </a:solidFill>
              </a:rPr>
              <a:t>All 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83880" y="4553712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Stretch Goals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83880" y="4919472"/>
            <a:ext cx="3383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6B7280"/>
                </a:solidFill>
              </a:rPr>
              <a:t>Completed &amp; evaluated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5632704"/>
            <a:ext cx="11475720" cy="82296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5678424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</a:rPr>
              <a:t>💡  Key Insight:  The agentic loop delivers measurable quality gains EVEN under severe corpus constraints.
         Scale the corpus from 5K → 500K chunks and every metric improves dramatically.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56248"/>
            <a:ext cx="12188952" cy="3017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82880" y="6565392"/>
            <a:ext cx="1179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7D2FE"/>
                </a:solidFill>
              </a:rPr>
              <a:t>Thank you!  ·  python main.py streamlit  ·  results/plots/  ·  results/report.tex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